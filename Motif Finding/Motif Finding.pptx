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73" r:id="rId4"/>
    <p:sldId id="274" r:id="rId5"/>
    <p:sldId id="272" r:id="rId6"/>
    <p:sldId id="257" r:id="rId7"/>
    <p:sldId id="275" r:id="rId8"/>
    <p:sldId id="276" r:id="rId9"/>
    <p:sldId id="277" r:id="rId10"/>
    <p:sldId id="278" r:id="rId11"/>
  </p:sldIdLst>
  <p:sldSz cx="18288000" cy="10287000"/>
  <p:notesSz cx="6858000" cy="9144000"/>
  <p:embeddedFontLst>
    <p:embeddedFont>
      <p:font typeface="Poppins" panose="00000500000000000000" pitchFamily="2" charset="0"/>
      <p:regular r:id="rId12"/>
      <p:bold r:id="rId13"/>
      <p:italic r:id="rId14"/>
      <p:boldItalic r:id="rId15"/>
    </p:embeddedFont>
    <p:embeddedFont>
      <p:font typeface="Poppins Light" panose="00000400000000000000" pitchFamily="2" charset="0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008000"/>
    <a:srgbClr val="FFB300"/>
    <a:srgbClr val="0000CC"/>
    <a:srgbClr val="BFBFBF"/>
    <a:srgbClr val="A97341"/>
    <a:srgbClr val="121B20"/>
    <a:srgbClr val="11D7FF"/>
    <a:srgbClr val="00778E"/>
    <a:srgbClr val="CCA1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92" y="1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34687B-1A96-430F-9070-6D29D8D103CF}" type="doc">
      <dgm:prSet loTypeId="urn:microsoft.com/office/officeart/2008/layout/AlternatingHexagons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2696CBF1-C793-48D3-85A2-FD5E40BA024D}">
      <dgm:prSet phldrT="[Texto]" phldr="1"/>
      <dgm:spPr>
        <a:solidFill>
          <a:srgbClr val="A97341"/>
        </a:solidFill>
      </dgm:spPr>
      <dgm:t>
        <a:bodyPr/>
        <a:lstStyle/>
        <a:p>
          <a:endParaRPr lang="pt-PT" dirty="0">
            <a:solidFill>
              <a:srgbClr val="A97341"/>
            </a:solidFill>
          </a:endParaRPr>
        </a:p>
      </dgm:t>
    </dgm:pt>
    <dgm:pt modelId="{395AD8D0-DEB6-4F84-9E1A-36BCD0A0A258}" type="parTrans" cxnId="{C69EDA97-E458-42E5-960A-3CEAF9CE5033}">
      <dgm:prSet/>
      <dgm:spPr/>
      <dgm:t>
        <a:bodyPr/>
        <a:lstStyle/>
        <a:p>
          <a:endParaRPr lang="pt-PT"/>
        </a:p>
      </dgm:t>
    </dgm:pt>
    <dgm:pt modelId="{57478B89-50BD-4F0C-8A9E-26803075A390}" type="sibTrans" cxnId="{C69EDA97-E458-42E5-960A-3CEAF9CE5033}">
      <dgm:prSet/>
      <dgm:spPr>
        <a:solidFill>
          <a:srgbClr val="A97341"/>
        </a:solidFill>
      </dgm:spPr>
      <dgm:t>
        <a:bodyPr/>
        <a:lstStyle/>
        <a:p>
          <a:endParaRPr lang="pt-PT" dirty="0"/>
        </a:p>
      </dgm:t>
    </dgm:pt>
    <dgm:pt modelId="{0176860A-A5C3-422F-969D-CAEE1F0C1AFB}">
      <dgm:prSet phldrT="[Texto]" phldr="1"/>
      <dgm:spPr>
        <a:solidFill>
          <a:srgbClr val="A97341"/>
        </a:solidFill>
      </dgm:spPr>
      <dgm:t>
        <a:bodyPr/>
        <a:lstStyle/>
        <a:p>
          <a:endParaRPr lang="pt-PT" dirty="0">
            <a:solidFill>
              <a:srgbClr val="A97341"/>
            </a:solidFill>
          </a:endParaRPr>
        </a:p>
      </dgm:t>
    </dgm:pt>
    <dgm:pt modelId="{807A96EB-F044-4A3F-8FFC-607797816915}" type="parTrans" cxnId="{9D269991-785B-431A-B4D2-DF73D2F70C85}">
      <dgm:prSet/>
      <dgm:spPr/>
      <dgm:t>
        <a:bodyPr/>
        <a:lstStyle/>
        <a:p>
          <a:endParaRPr lang="pt-PT"/>
        </a:p>
      </dgm:t>
    </dgm:pt>
    <dgm:pt modelId="{23D6E3C6-CABB-4A91-B824-299DCEAA5BF1}" type="sibTrans" cxnId="{9D269991-785B-431A-B4D2-DF73D2F70C85}">
      <dgm:prSet/>
      <dgm:spPr>
        <a:solidFill>
          <a:srgbClr val="A97341"/>
        </a:solidFill>
      </dgm:spPr>
      <dgm:t>
        <a:bodyPr/>
        <a:lstStyle/>
        <a:p>
          <a:endParaRPr lang="pt-PT" dirty="0"/>
        </a:p>
      </dgm:t>
    </dgm:pt>
    <dgm:pt modelId="{27ED924D-8805-49D7-B016-74134BEFACBE}">
      <dgm:prSet phldrT="[Texto]" phldr="1"/>
      <dgm:spPr>
        <a:solidFill>
          <a:srgbClr val="A97341"/>
        </a:solidFill>
      </dgm:spPr>
      <dgm:t>
        <a:bodyPr/>
        <a:lstStyle/>
        <a:p>
          <a:endParaRPr lang="pt-PT" dirty="0">
            <a:solidFill>
              <a:srgbClr val="A97341"/>
            </a:solidFill>
          </a:endParaRPr>
        </a:p>
      </dgm:t>
    </dgm:pt>
    <dgm:pt modelId="{B0ECD31D-54D4-4BDF-90E2-388949CBA30D}" type="parTrans" cxnId="{856FEBD9-2A19-4F3A-A4F4-D87A5EC5BD7E}">
      <dgm:prSet/>
      <dgm:spPr/>
      <dgm:t>
        <a:bodyPr/>
        <a:lstStyle/>
        <a:p>
          <a:endParaRPr lang="pt-PT"/>
        </a:p>
      </dgm:t>
    </dgm:pt>
    <dgm:pt modelId="{B643051F-66CE-408D-8BF7-F98BBFB63477}" type="sibTrans" cxnId="{856FEBD9-2A19-4F3A-A4F4-D87A5EC5BD7E}">
      <dgm:prSet/>
      <dgm:spPr>
        <a:solidFill>
          <a:srgbClr val="A97341"/>
        </a:solidFill>
      </dgm:spPr>
      <dgm:t>
        <a:bodyPr/>
        <a:lstStyle/>
        <a:p>
          <a:endParaRPr lang="pt-PT" dirty="0"/>
        </a:p>
      </dgm:t>
    </dgm:pt>
    <dgm:pt modelId="{58983AAB-3858-4F25-9D75-8B9BAB964497}" type="pres">
      <dgm:prSet presAssocID="{8434687B-1A96-430F-9070-6D29D8D103CF}" presName="Name0" presStyleCnt="0">
        <dgm:presLayoutVars>
          <dgm:chMax/>
          <dgm:chPref/>
          <dgm:dir/>
          <dgm:animLvl val="lvl"/>
        </dgm:presLayoutVars>
      </dgm:prSet>
      <dgm:spPr/>
    </dgm:pt>
    <dgm:pt modelId="{75D5FC0B-344B-4CE1-BE0A-82EE0E8DC292}" type="pres">
      <dgm:prSet presAssocID="{0176860A-A5C3-422F-969D-CAEE1F0C1AFB}" presName="composite" presStyleCnt="0"/>
      <dgm:spPr/>
    </dgm:pt>
    <dgm:pt modelId="{78701024-0460-4F7F-98F8-01D711EE9DDA}" type="pres">
      <dgm:prSet presAssocID="{0176860A-A5C3-422F-969D-CAEE1F0C1AFB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006716F3-A282-4939-B69B-13E74ACD7C31}" type="pres">
      <dgm:prSet presAssocID="{0176860A-A5C3-422F-969D-CAEE1F0C1AFB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239E15F-0A21-4E41-A738-24260B061A40}" type="pres">
      <dgm:prSet presAssocID="{0176860A-A5C3-422F-969D-CAEE1F0C1AFB}" presName="BalanceSpacing" presStyleCnt="0"/>
      <dgm:spPr/>
    </dgm:pt>
    <dgm:pt modelId="{A6A781C6-F451-4551-82E8-16242654DDC1}" type="pres">
      <dgm:prSet presAssocID="{0176860A-A5C3-422F-969D-CAEE1F0C1AFB}" presName="BalanceSpacing1" presStyleCnt="0"/>
      <dgm:spPr/>
    </dgm:pt>
    <dgm:pt modelId="{DDB22477-E7E0-44E1-9880-9630C71A325A}" type="pres">
      <dgm:prSet presAssocID="{23D6E3C6-CABB-4A91-B824-299DCEAA5BF1}" presName="Accent1Text" presStyleLbl="node1" presStyleIdx="1" presStyleCnt="6" custLinFactX="-55633" custLinFactNeighborX="-100000" custLinFactNeighborY="14621"/>
      <dgm:spPr/>
    </dgm:pt>
    <dgm:pt modelId="{5836B026-A4A6-4BD6-BE08-90280F37C64E}" type="pres">
      <dgm:prSet presAssocID="{23D6E3C6-CABB-4A91-B824-299DCEAA5BF1}" presName="spaceBetweenRectangles" presStyleCnt="0"/>
      <dgm:spPr/>
    </dgm:pt>
    <dgm:pt modelId="{69C8868E-699C-4EF0-AB2C-61BB6B2F5ACC}" type="pres">
      <dgm:prSet presAssocID="{27ED924D-8805-49D7-B016-74134BEFACBE}" presName="composite" presStyleCnt="0"/>
      <dgm:spPr/>
    </dgm:pt>
    <dgm:pt modelId="{7AA7BC85-4409-42AA-A425-4E7EAA07802E}" type="pres">
      <dgm:prSet presAssocID="{27ED924D-8805-49D7-B016-74134BEFACBE}" presName="Parent1" presStyleLbl="node1" presStyleIdx="2" presStyleCnt="6" custLinFactX="-100000" custLinFactNeighborX="-148670" custLinFactNeighborY="-30016">
        <dgm:presLayoutVars>
          <dgm:chMax val="1"/>
          <dgm:chPref val="1"/>
          <dgm:bulletEnabled val="1"/>
        </dgm:presLayoutVars>
      </dgm:prSet>
      <dgm:spPr/>
    </dgm:pt>
    <dgm:pt modelId="{1514C133-2200-453A-A1B5-A3881E610847}" type="pres">
      <dgm:prSet presAssocID="{27ED924D-8805-49D7-B016-74134BEFACBE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04F87F77-B4FC-401C-A7F0-19EB212CD565}" type="pres">
      <dgm:prSet presAssocID="{27ED924D-8805-49D7-B016-74134BEFACBE}" presName="BalanceSpacing" presStyleCnt="0"/>
      <dgm:spPr/>
    </dgm:pt>
    <dgm:pt modelId="{7244C4A8-C1AF-4B76-8BB3-86BF5E31E343}" type="pres">
      <dgm:prSet presAssocID="{27ED924D-8805-49D7-B016-74134BEFACBE}" presName="BalanceSpacing1" presStyleCnt="0"/>
      <dgm:spPr/>
    </dgm:pt>
    <dgm:pt modelId="{96DB845B-E225-411C-8115-5264E9E6DE2B}" type="pres">
      <dgm:prSet presAssocID="{B643051F-66CE-408D-8BF7-F98BBFB63477}" presName="Accent1Text" presStyleLbl="node1" presStyleIdx="3" presStyleCnt="6"/>
      <dgm:spPr/>
    </dgm:pt>
    <dgm:pt modelId="{426F0C78-2484-47DB-B33B-CAA9AE8850FF}" type="pres">
      <dgm:prSet presAssocID="{B643051F-66CE-408D-8BF7-F98BBFB63477}" presName="spaceBetweenRectangles" presStyleCnt="0"/>
      <dgm:spPr/>
    </dgm:pt>
    <dgm:pt modelId="{4EFDEFB4-9D73-4470-8EE5-C48FC1AE5C2D}" type="pres">
      <dgm:prSet presAssocID="{2696CBF1-C793-48D3-85A2-FD5E40BA024D}" presName="composite" presStyleCnt="0"/>
      <dgm:spPr/>
    </dgm:pt>
    <dgm:pt modelId="{A6A63B27-FC94-43B9-BD04-A0A4155FAD4A}" type="pres">
      <dgm:prSet presAssocID="{2696CBF1-C793-48D3-85A2-FD5E40BA024D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54B45933-4089-469E-A2A2-541B157BCDB5}" type="pres">
      <dgm:prSet presAssocID="{2696CBF1-C793-48D3-85A2-FD5E40BA024D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F06E4DA4-D0BB-43FD-BEFA-D0FD3FEF056A}" type="pres">
      <dgm:prSet presAssocID="{2696CBF1-C793-48D3-85A2-FD5E40BA024D}" presName="BalanceSpacing" presStyleCnt="0"/>
      <dgm:spPr/>
    </dgm:pt>
    <dgm:pt modelId="{B8F88284-A5AF-42B4-A223-4C1D3D917B05}" type="pres">
      <dgm:prSet presAssocID="{2696CBF1-C793-48D3-85A2-FD5E40BA024D}" presName="BalanceSpacing1" presStyleCnt="0"/>
      <dgm:spPr/>
    </dgm:pt>
    <dgm:pt modelId="{49C127FC-7B2C-4B14-8AAA-0B4B5DED43A1}" type="pres">
      <dgm:prSet presAssocID="{57478B89-50BD-4F0C-8A9E-26803075A390}" presName="Accent1Text" presStyleLbl="node1" presStyleIdx="5" presStyleCnt="6" custLinFactX="-49911" custLinFactNeighborX="-100000" custLinFactNeighborY="-6302"/>
      <dgm:spPr/>
    </dgm:pt>
  </dgm:ptLst>
  <dgm:cxnLst>
    <dgm:cxn modelId="{D6CDF318-1D1E-4054-A4D8-2AD363BA66F8}" type="presOf" srcId="{2696CBF1-C793-48D3-85A2-FD5E40BA024D}" destId="{A6A63B27-FC94-43B9-BD04-A0A4155FAD4A}" srcOrd="0" destOrd="0" presId="urn:microsoft.com/office/officeart/2008/layout/AlternatingHexagons"/>
    <dgm:cxn modelId="{9B3D1464-F3A0-44D8-B974-80E19094F9DA}" type="presOf" srcId="{B643051F-66CE-408D-8BF7-F98BBFB63477}" destId="{96DB845B-E225-411C-8115-5264E9E6DE2B}" srcOrd="0" destOrd="0" presId="urn:microsoft.com/office/officeart/2008/layout/AlternatingHexagons"/>
    <dgm:cxn modelId="{6AB04D81-D507-4B99-8E69-575504FEF01F}" type="presOf" srcId="{57478B89-50BD-4F0C-8A9E-26803075A390}" destId="{49C127FC-7B2C-4B14-8AAA-0B4B5DED43A1}" srcOrd="0" destOrd="0" presId="urn:microsoft.com/office/officeart/2008/layout/AlternatingHexagons"/>
    <dgm:cxn modelId="{9D269991-785B-431A-B4D2-DF73D2F70C85}" srcId="{8434687B-1A96-430F-9070-6D29D8D103CF}" destId="{0176860A-A5C3-422F-969D-CAEE1F0C1AFB}" srcOrd="0" destOrd="0" parTransId="{807A96EB-F044-4A3F-8FFC-607797816915}" sibTransId="{23D6E3C6-CABB-4A91-B824-299DCEAA5BF1}"/>
    <dgm:cxn modelId="{A8B42297-20D2-4B56-AB90-15C48579381D}" type="presOf" srcId="{0176860A-A5C3-422F-969D-CAEE1F0C1AFB}" destId="{78701024-0460-4F7F-98F8-01D711EE9DDA}" srcOrd="0" destOrd="0" presId="urn:microsoft.com/office/officeart/2008/layout/AlternatingHexagons"/>
    <dgm:cxn modelId="{C69EDA97-E458-42E5-960A-3CEAF9CE5033}" srcId="{8434687B-1A96-430F-9070-6D29D8D103CF}" destId="{2696CBF1-C793-48D3-85A2-FD5E40BA024D}" srcOrd="2" destOrd="0" parTransId="{395AD8D0-DEB6-4F84-9E1A-36BCD0A0A258}" sibTransId="{57478B89-50BD-4F0C-8A9E-26803075A390}"/>
    <dgm:cxn modelId="{BB0BF7A0-261F-481D-8DB4-DC7D118F4271}" type="presOf" srcId="{23D6E3C6-CABB-4A91-B824-299DCEAA5BF1}" destId="{DDB22477-E7E0-44E1-9880-9630C71A325A}" srcOrd="0" destOrd="0" presId="urn:microsoft.com/office/officeart/2008/layout/AlternatingHexagons"/>
    <dgm:cxn modelId="{6EF857B4-A692-48B2-A09F-FB4F422AFDEC}" type="presOf" srcId="{8434687B-1A96-430F-9070-6D29D8D103CF}" destId="{58983AAB-3858-4F25-9D75-8B9BAB964497}" srcOrd="0" destOrd="0" presId="urn:microsoft.com/office/officeart/2008/layout/AlternatingHexagons"/>
    <dgm:cxn modelId="{4F5D94D2-DA9A-4ACD-A724-1B6EB0B3B93C}" type="presOf" srcId="{27ED924D-8805-49D7-B016-74134BEFACBE}" destId="{7AA7BC85-4409-42AA-A425-4E7EAA07802E}" srcOrd="0" destOrd="0" presId="urn:microsoft.com/office/officeart/2008/layout/AlternatingHexagons"/>
    <dgm:cxn modelId="{856FEBD9-2A19-4F3A-A4F4-D87A5EC5BD7E}" srcId="{8434687B-1A96-430F-9070-6D29D8D103CF}" destId="{27ED924D-8805-49D7-B016-74134BEFACBE}" srcOrd="1" destOrd="0" parTransId="{B0ECD31D-54D4-4BDF-90E2-388949CBA30D}" sibTransId="{B643051F-66CE-408D-8BF7-F98BBFB63477}"/>
    <dgm:cxn modelId="{211C45A4-8634-46F4-86B8-2BEACE26FBD3}" type="presParOf" srcId="{58983AAB-3858-4F25-9D75-8B9BAB964497}" destId="{75D5FC0B-344B-4CE1-BE0A-82EE0E8DC292}" srcOrd="0" destOrd="0" presId="urn:microsoft.com/office/officeart/2008/layout/AlternatingHexagons"/>
    <dgm:cxn modelId="{DEC1B75D-59C6-4886-B1AF-012ACF364E2F}" type="presParOf" srcId="{75D5FC0B-344B-4CE1-BE0A-82EE0E8DC292}" destId="{78701024-0460-4F7F-98F8-01D711EE9DDA}" srcOrd="0" destOrd="0" presId="urn:microsoft.com/office/officeart/2008/layout/AlternatingHexagons"/>
    <dgm:cxn modelId="{C25DA1D2-E58D-48C3-9F70-1B2385DA377A}" type="presParOf" srcId="{75D5FC0B-344B-4CE1-BE0A-82EE0E8DC292}" destId="{006716F3-A282-4939-B69B-13E74ACD7C31}" srcOrd="1" destOrd="0" presId="urn:microsoft.com/office/officeart/2008/layout/AlternatingHexagons"/>
    <dgm:cxn modelId="{E0841594-411C-4631-8233-E924F79F62CC}" type="presParOf" srcId="{75D5FC0B-344B-4CE1-BE0A-82EE0E8DC292}" destId="{9239E15F-0A21-4E41-A738-24260B061A40}" srcOrd="2" destOrd="0" presId="urn:microsoft.com/office/officeart/2008/layout/AlternatingHexagons"/>
    <dgm:cxn modelId="{0C5C7DC4-F5DB-4C6A-AC6F-FE3F341C4A0F}" type="presParOf" srcId="{75D5FC0B-344B-4CE1-BE0A-82EE0E8DC292}" destId="{A6A781C6-F451-4551-82E8-16242654DDC1}" srcOrd="3" destOrd="0" presId="urn:microsoft.com/office/officeart/2008/layout/AlternatingHexagons"/>
    <dgm:cxn modelId="{ABF37198-636E-40B1-BC62-C3B6756AFAFC}" type="presParOf" srcId="{75D5FC0B-344B-4CE1-BE0A-82EE0E8DC292}" destId="{DDB22477-E7E0-44E1-9880-9630C71A325A}" srcOrd="4" destOrd="0" presId="urn:microsoft.com/office/officeart/2008/layout/AlternatingHexagons"/>
    <dgm:cxn modelId="{E55697EF-C816-4F7A-A6ED-35E2BBA28E24}" type="presParOf" srcId="{58983AAB-3858-4F25-9D75-8B9BAB964497}" destId="{5836B026-A4A6-4BD6-BE08-90280F37C64E}" srcOrd="1" destOrd="0" presId="urn:microsoft.com/office/officeart/2008/layout/AlternatingHexagons"/>
    <dgm:cxn modelId="{140A0C63-2326-4760-9591-EE885952FA4C}" type="presParOf" srcId="{58983AAB-3858-4F25-9D75-8B9BAB964497}" destId="{69C8868E-699C-4EF0-AB2C-61BB6B2F5ACC}" srcOrd="2" destOrd="0" presId="urn:microsoft.com/office/officeart/2008/layout/AlternatingHexagons"/>
    <dgm:cxn modelId="{A343FEEA-C50A-414C-BCD4-E647C9EB3C6C}" type="presParOf" srcId="{69C8868E-699C-4EF0-AB2C-61BB6B2F5ACC}" destId="{7AA7BC85-4409-42AA-A425-4E7EAA07802E}" srcOrd="0" destOrd="0" presId="urn:microsoft.com/office/officeart/2008/layout/AlternatingHexagons"/>
    <dgm:cxn modelId="{22D366E6-D5BA-4495-B593-978645AFCA88}" type="presParOf" srcId="{69C8868E-699C-4EF0-AB2C-61BB6B2F5ACC}" destId="{1514C133-2200-453A-A1B5-A3881E610847}" srcOrd="1" destOrd="0" presId="urn:microsoft.com/office/officeart/2008/layout/AlternatingHexagons"/>
    <dgm:cxn modelId="{BFEDE096-0644-4BE0-B383-2DE2DA2D5B16}" type="presParOf" srcId="{69C8868E-699C-4EF0-AB2C-61BB6B2F5ACC}" destId="{04F87F77-B4FC-401C-A7F0-19EB212CD565}" srcOrd="2" destOrd="0" presId="urn:microsoft.com/office/officeart/2008/layout/AlternatingHexagons"/>
    <dgm:cxn modelId="{F6646EFF-62E4-4F00-BB64-8BBEEA491147}" type="presParOf" srcId="{69C8868E-699C-4EF0-AB2C-61BB6B2F5ACC}" destId="{7244C4A8-C1AF-4B76-8BB3-86BF5E31E343}" srcOrd="3" destOrd="0" presId="urn:microsoft.com/office/officeart/2008/layout/AlternatingHexagons"/>
    <dgm:cxn modelId="{BE0473E0-DF22-4510-9092-4287BA1E3C3B}" type="presParOf" srcId="{69C8868E-699C-4EF0-AB2C-61BB6B2F5ACC}" destId="{96DB845B-E225-411C-8115-5264E9E6DE2B}" srcOrd="4" destOrd="0" presId="urn:microsoft.com/office/officeart/2008/layout/AlternatingHexagons"/>
    <dgm:cxn modelId="{FA07C845-625A-4304-B482-3087F7CA76C4}" type="presParOf" srcId="{58983AAB-3858-4F25-9D75-8B9BAB964497}" destId="{426F0C78-2484-47DB-B33B-CAA9AE8850FF}" srcOrd="3" destOrd="0" presId="urn:microsoft.com/office/officeart/2008/layout/AlternatingHexagons"/>
    <dgm:cxn modelId="{02B87AA2-A0DC-4DFC-89CA-2D7EE9F697EE}" type="presParOf" srcId="{58983AAB-3858-4F25-9D75-8B9BAB964497}" destId="{4EFDEFB4-9D73-4470-8EE5-C48FC1AE5C2D}" srcOrd="4" destOrd="0" presId="urn:microsoft.com/office/officeart/2008/layout/AlternatingHexagons"/>
    <dgm:cxn modelId="{F18486A0-E925-4941-B7D8-71D75B500B2D}" type="presParOf" srcId="{4EFDEFB4-9D73-4470-8EE5-C48FC1AE5C2D}" destId="{A6A63B27-FC94-43B9-BD04-A0A4155FAD4A}" srcOrd="0" destOrd="0" presId="urn:microsoft.com/office/officeart/2008/layout/AlternatingHexagons"/>
    <dgm:cxn modelId="{6ABD798B-61FB-4B7E-8ED5-12E1FE9A7043}" type="presParOf" srcId="{4EFDEFB4-9D73-4470-8EE5-C48FC1AE5C2D}" destId="{54B45933-4089-469E-A2A2-541B157BCDB5}" srcOrd="1" destOrd="0" presId="urn:microsoft.com/office/officeart/2008/layout/AlternatingHexagons"/>
    <dgm:cxn modelId="{FDEC7B4B-A660-48B6-A508-089F8C582506}" type="presParOf" srcId="{4EFDEFB4-9D73-4470-8EE5-C48FC1AE5C2D}" destId="{F06E4DA4-D0BB-43FD-BEFA-D0FD3FEF056A}" srcOrd="2" destOrd="0" presId="urn:microsoft.com/office/officeart/2008/layout/AlternatingHexagons"/>
    <dgm:cxn modelId="{CE8311B3-277E-4738-BF9A-AFCA8B18DE60}" type="presParOf" srcId="{4EFDEFB4-9D73-4470-8EE5-C48FC1AE5C2D}" destId="{B8F88284-A5AF-42B4-A223-4C1D3D917B05}" srcOrd="3" destOrd="0" presId="urn:microsoft.com/office/officeart/2008/layout/AlternatingHexagons"/>
    <dgm:cxn modelId="{CB46E2E0-F2DD-41A6-8DEA-40758D3F692F}" type="presParOf" srcId="{4EFDEFB4-9D73-4470-8EE5-C48FC1AE5C2D}" destId="{49C127FC-7B2C-4B14-8AAA-0B4B5DED43A1}" srcOrd="4" destOrd="0" presId="urn:microsoft.com/office/officeart/2008/layout/AlternatingHexagons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01024-0460-4F7F-98F8-01D711EE9DDA}">
      <dsp:nvSpPr>
        <dsp:cNvPr id="0" name=""/>
        <dsp:cNvSpPr/>
      </dsp:nvSpPr>
      <dsp:spPr>
        <a:xfrm rot="5400000">
          <a:off x="5677911" y="155819"/>
          <a:ext cx="2387173" cy="2076841"/>
        </a:xfrm>
        <a:prstGeom prst="hexagon">
          <a:avLst>
            <a:gd name="adj" fmla="val 25000"/>
            <a:gd name="vf" fmla="val 115470"/>
          </a:avLst>
        </a:prstGeom>
        <a:solidFill>
          <a:srgbClr val="A9734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300" kern="1200" dirty="0">
            <a:solidFill>
              <a:srgbClr val="A97341"/>
            </a:solidFill>
          </a:endParaRPr>
        </a:p>
      </dsp:txBody>
      <dsp:txXfrm rot="-5400000">
        <a:off x="6156718" y="372654"/>
        <a:ext cx="1429559" cy="1643171"/>
      </dsp:txXfrm>
    </dsp:sp>
    <dsp:sp modelId="{006716F3-A282-4939-B69B-13E74ACD7C31}">
      <dsp:nvSpPr>
        <dsp:cNvPr id="0" name=""/>
        <dsp:cNvSpPr/>
      </dsp:nvSpPr>
      <dsp:spPr>
        <a:xfrm>
          <a:off x="7972941" y="478087"/>
          <a:ext cx="2664086" cy="1432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B22477-E7E0-44E1-9880-9630C71A325A}">
      <dsp:nvSpPr>
        <dsp:cNvPr id="0" name=""/>
        <dsp:cNvSpPr/>
      </dsp:nvSpPr>
      <dsp:spPr>
        <a:xfrm rot="5400000">
          <a:off x="202672" y="504847"/>
          <a:ext cx="2387173" cy="2076841"/>
        </a:xfrm>
        <a:prstGeom prst="hexagon">
          <a:avLst>
            <a:gd name="adj" fmla="val 25000"/>
            <a:gd name="vf" fmla="val 115470"/>
          </a:avLst>
        </a:prstGeom>
        <a:solidFill>
          <a:srgbClr val="A9734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600" kern="1200" dirty="0"/>
        </a:p>
      </dsp:txBody>
      <dsp:txXfrm rot="-5400000">
        <a:off x="681479" y="721682"/>
        <a:ext cx="1429559" cy="1643171"/>
      </dsp:txXfrm>
    </dsp:sp>
    <dsp:sp modelId="{7AA7BC85-4409-42AA-A425-4E7EAA07802E}">
      <dsp:nvSpPr>
        <dsp:cNvPr id="0" name=""/>
        <dsp:cNvSpPr/>
      </dsp:nvSpPr>
      <dsp:spPr>
        <a:xfrm rot="5400000">
          <a:off x="-155166" y="1465518"/>
          <a:ext cx="2387173" cy="2076841"/>
        </a:xfrm>
        <a:prstGeom prst="hexagon">
          <a:avLst>
            <a:gd name="adj" fmla="val 25000"/>
            <a:gd name="vf" fmla="val 115470"/>
          </a:avLst>
        </a:prstGeom>
        <a:solidFill>
          <a:srgbClr val="A9734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300" kern="1200" dirty="0">
            <a:solidFill>
              <a:srgbClr val="A97341"/>
            </a:solidFill>
          </a:endParaRPr>
        </a:p>
      </dsp:txBody>
      <dsp:txXfrm rot="-5400000">
        <a:off x="323641" y="1682353"/>
        <a:ext cx="1429559" cy="1643171"/>
      </dsp:txXfrm>
    </dsp:sp>
    <dsp:sp modelId="{1514C133-2200-453A-A1B5-A3881E610847}">
      <dsp:nvSpPr>
        <dsp:cNvPr id="0" name=""/>
        <dsp:cNvSpPr/>
      </dsp:nvSpPr>
      <dsp:spPr>
        <a:xfrm>
          <a:off x="2043200" y="2504320"/>
          <a:ext cx="2578147" cy="1432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DB845B-E225-411C-8115-5264E9E6DE2B}">
      <dsp:nvSpPr>
        <dsp:cNvPr id="0" name=""/>
        <dsp:cNvSpPr/>
      </dsp:nvSpPr>
      <dsp:spPr>
        <a:xfrm rot="5400000">
          <a:off x="6795109" y="2182052"/>
          <a:ext cx="2387173" cy="2076841"/>
        </a:xfrm>
        <a:prstGeom prst="hexagon">
          <a:avLst>
            <a:gd name="adj" fmla="val 25000"/>
            <a:gd name="vf" fmla="val 115470"/>
          </a:avLst>
        </a:prstGeom>
        <a:solidFill>
          <a:srgbClr val="A9734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600" kern="1200" dirty="0"/>
        </a:p>
      </dsp:txBody>
      <dsp:txXfrm rot="-5400000">
        <a:off x="7273916" y="2398887"/>
        <a:ext cx="1429559" cy="1643171"/>
      </dsp:txXfrm>
    </dsp:sp>
    <dsp:sp modelId="{A6A63B27-FC94-43B9-BD04-A0A4155FAD4A}">
      <dsp:nvSpPr>
        <dsp:cNvPr id="0" name=""/>
        <dsp:cNvSpPr/>
      </dsp:nvSpPr>
      <dsp:spPr>
        <a:xfrm rot="5400000">
          <a:off x="5677911" y="4208285"/>
          <a:ext cx="2387173" cy="2076841"/>
        </a:xfrm>
        <a:prstGeom prst="hexagon">
          <a:avLst>
            <a:gd name="adj" fmla="val 25000"/>
            <a:gd name="vf" fmla="val 115470"/>
          </a:avLst>
        </a:prstGeom>
        <a:solidFill>
          <a:srgbClr val="A9734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300" kern="1200" dirty="0">
            <a:solidFill>
              <a:srgbClr val="A97341"/>
            </a:solidFill>
          </a:endParaRPr>
        </a:p>
      </dsp:txBody>
      <dsp:txXfrm rot="-5400000">
        <a:off x="6156718" y="4425120"/>
        <a:ext cx="1429559" cy="1643171"/>
      </dsp:txXfrm>
    </dsp:sp>
    <dsp:sp modelId="{54B45933-4089-469E-A2A2-541B157BCDB5}">
      <dsp:nvSpPr>
        <dsp:cNvPr id="0" name=""/>
        <dsp:cNvSpPr/>
      </dsp:nvSpPr>
      <dsp:spPr>
        <a:xfrm>
          <a:off x="7972941" y="4530554"/>
          <a:ext cx="2664086" cy="1432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C127FC-7B2C-4B14-8AAA-0B4B5DED43A1}">
      <dsp:nvSpPr>
        <dsp:cNvPr id="0" name=""/>
        <dsp:cNvSpPr/>
      </dsp:nvSpPr>
      <dsp:spPr>
        <a:xfrm rot="5400000">
          <a:off x="321509" y="4057845"/>
          <a:ext cx="2387173" cy="2076841"/>
        </a:xfrm>
        <a:prstGeom prst="hexagon">
          <a:avLst>
            <a:gd name="adj" fmla="val 25000"/>
            <a:gd name="vf" fmla="val 115470"/>
          </a:avLst>
        </a:prstGeom>
        <a:solidFill>
          <a:srgbClr val="A9734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600" kern="1200" dirty="0"/>
        </a:p>
      </dsp:txBody>
      <dsp:txXfrm rot="-5400000">
        <a:off x="800316" y="4274680"/>
        <a:ext cx="1429559" cy="1643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4134" y="1702613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2190750" y="2276856"/>
            <a:ext cx="10610850" cy="1677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99"/>
              </a:lnSpc>
            </a:pPr>
            <a:r>
              <a:rPr lang="pt-PT" sz="12699" spc="-253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Light"/>
                <a:ea typeface="Poppins Light"/>
                <a:cs typeface="Poppins Light"/>
                <a:sym typeface="Poppins Light"/>
              </a:rPr>
              <a:t>Motif Finding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86000" y="1712024"/>
            <a:ext cx="7478974" cy="273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pt-PT" sz="2800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Research Workshop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6000" y="4530737"/>
            <a:ext cx="12115800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12699"/>
              </a:lnSpc>
              <a:defRPr sz="12699" spc="-253">
                <a:solidFill>
                  <a:srgbClr val="FFFFFF"/>
                </a:solidFill>
                <a:latin typeface="Poppins Light"/>
                <a:ea typeface="Poppins Light"/>
                <a:cs typeface="Poppins Light"/>
              </a:defRPr>
            </a:lvl1pPr>
          </a:lstStyle>
          <a:p>
            <a:pPr>
              <a:lnSpc>
                <a:spcPct val="100000"/>
              </a:lnSpc>
            </a:pPr>
            <a:r>
              <a:rPr lang="pt-PT" sz="5400" dirty="0" err="1">
                <a:solidFill>
                  <a:srgbClr val="A9734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Motif</a:t>
            </a:r>
            <a:r>
              <a:rPr lang="pt-PT" sz="5400" dirty="0">
                <a:solidFill>
                  <a:srgbClr val="A9734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 </a:t>
            </a:r>
            <a:r>
              <a:rPr lang="pt-PT" sz="5400" dirty="0" err="1">
                <a:solidFill>
                  <a:srgbClr val="A9734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Finding</a:t>
            </a:r>
            <a:r>
              <a:rPr lang="pt-PT" sz="5400" dirty="0">
                <a:solidFill>
                  <a:srgbClr val="A9734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 na resposta ao stress em </a:t>
            </a:r>
            <a:r>
              <a:rPr lang="pt-PT" sz="5400" i="1" dirty="0">
                <a:solidFill>
                  <a:srgbClr val="A9734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S. </a:t>
            </a:r>
            <a:r>
              <a:rPr lang="pt-PT" sz="5400" i="1" dirty="0" err="1">
                <a:solidFill>
                  <a:srgbClr val="A9734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cerevisiae</a:t>
            </a:r>
            <a:endParaRPr lang="pt-PT" sz="5400" i="1" dirty="0">
              <a:solidFill>
                <a:srgbClr val="A9734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62200" y="8875554"/>
            <a:ext cx="13563600" cy="1207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Afonso Santos, Joana Borges, Rafael Santos </a:t>
            </a:r>
          </a:p>
          <a:p>
            <a:pPr algn="ctr">
              <a:lnSpc>
                <a:spcPct val="150000"/>
              </a:lnSpc>
            </a:pPr>
            <a:r>
              <a:rPr lang="pt-PT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Algoritmos Para Análise de Sequências Biológicas | Licenciatura em Bioinformática | 2025/2026</a:t>
            </a:r>
          </a:p>
          <a:p>
            <a:pPr algn="ctr">
              <a:lnSpc>
                <a:spcPct val="150000"/>
              </a:lnSpc>
            </a:pPr>
            <a:endParaRPr lang="pt-PT" sz="1800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13" name="Conexão reta 12">
            <a:extLst>
              <a:ext uri="{FF2B5EF4-FFF2-40B4-BE49-F238E27FC236}">
                <a16:creationId xmlns:a16="http://schemas.microsoft.com/office/drawing/2014/main" id="{53CC99CD-4823-AE01-D1FF-0E2C0C7BC9F1}"/>
              </a:ext>
            </a:extLst>
          </p:cNvPr>
          <p:cNvCxnSpPr>
            <a:cxnSpLocks/>
          </p:cNvCxnSpPr>
          <p:nvPr/>
        </p:nvCxnSpPr>
        <p:spPr>
          <a:xfrm>
            <a:off x="2286000" y="4076700"/>
            <a:ext cx="11658600" cy="0"/>
          </a:xfrm>
          <a:prstGeom prst="line">
            <a:avLst/>
          </a:prstGeom>
          <a:ln>
            <a:solidFill>
              <a:srgbClr val="A9734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486400" y="-1790700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3" name="AutoShape 3"/>
          <p:cNvSpPr/>
          <p:nvPr/>
        </p:nvSpPr>
        <p:spPr>
          <a:xfrm>
            <a:off x="990600" y="1866900"/>
            <a:ext cx="7696200" cy="0"/>
          </a:xfrm>
          <a:prstGeom prst="line">
            <a:avLst/>
          </a:prstGeom>
          <a:ln w="38100" cap="flat">
            <a:solidFill>
              <a:srgbClr val="A973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TextBox 8"/>
          <p:cNvSpPr txBox="1"/>
          <p:nvPr/>
        </p:nvSpPr>
        <p:spPr>
          <a:xfrm>
            <a:off x="914400" y="1028700"/>
            <a:ext cx="87630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pt-PT" sz="5600" noProof="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Contexto e Motivação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546FF359-3B40-058C-594E-A78644A2F63B}"/>
              </a:ext>
            </a:extLst>
          </p:cNvPr>
          <p:cNvSpPr/>
          <p:nvPr/>
        </p:nvSpPr>
        <p:spPr>
          <a:xfrm>
            <a:off x="990600" y="2175510"/>
            <a:ext cx="6858000" cy="7086600"/>
          </a:xfrm>
          <a:prstGeom prst="roundRect">
            <a:avLst>
              <a:gd name="adj" fmla="val 640"/>
            </a:avLst>
          </a:prstGeom>
          <a:solidFill>
            <a:srgbClr val="A97341">
              <a:alpha val="30000"/>
            </a:srgbClr>
          </a:solidFill>
          <a:ln>
            <a:solidFill>
              <a:srgbClr val="A973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82FB29D8-A6EE-0C7D-665B-8FCB06321DD1}"/>
              </a:ext>
            </a:extLst>
          </p:cNvPr>
          <p:cNvSpPr/>
          <p:nvPr/>
        </p:nvSpPr>
        <p:spPr>
          <a:xfrm>
            <a:off x="9677400" y="2175510"/>
            <a:ext cx="6858000" cy="7086600"/>
          </a:xfrm>
          <a:prstGeom prst="roundRect">
            <a:avLst>
              <a:gd name="adj" fmla="val 640"/>
            </a:avLst>
          </a:prstGeom>
          <a:solidFill>
            <a:srgbClr val="A97341">
              <a:alpha val="30000"/>
            </a:srgbClr>
          </a:solidFill>
          <a:ln>
            <a:solidFill>
              <a:srgbClr val="A973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4F8B8AE9-9F72-0419-493D-02A2BB0677DB}"/>
              </a:ext>
            </a:extLst>
          </p:cNvPr>
          <p:cNvSpPr txBox="1"/>
          <p:nvPr/>
        </p:nvSpPr>
        <p:spPr>
          <a:xfrm>
            <a:off x="1219199" y="3018130"/>
            <a:ext cx="62484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Um motif é um padrão curto e conservado em sequências de DNA, RNA ou proteína com relevância biológica.</a:t>
            </a:r>
          </a:p>
          <a:p>
            <a:endParaRPr lang="pt-PT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PT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Características: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Curtos: tipicamente 5–20 bp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Degenerados: admitem variações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Conservados evolutivamente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Localizados em regiões promotoras</a:t>
            </a:r>
          </a:p>
          <a:p>
            <a:endParaRPr lang="pt-PT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PT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A328AA75-48F2-3355-BBAA-197BF808D6B1}"/>
              </a:ext>
            </a:extLst>
          </p:cNvPr>
          <p:cNvSpPr txBox="1"/>
          <p:nvPr/>
        </p:nvSpPr>
        <p:spPr>
          <a:xfrm>
            <a:off x="1219200" y="2409735"/>
            <a:ext cx="52999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>
                <a:solidFill>
                  <a:srgbClr val="A973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Motif</a:t>
            </a:r>
          </a:p>
          <a:p>
            <a:endParaRPr lang="pt-PT" sz="3600" dirty="0">
              <a:solidFill>
                <a:srgbClr val="A9734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548AEF80-F416-2FD9-78DA-618ACC117794}"/>
              </a:ext>
            </a:extLst>
          </p:cNvPr>
          <p:cNvSpPr txBox="1"/>
          <p:nvPr/>
        </p:nvSpPr>
        <p:spPr>
          <a:xfrm>
            <a:off x="9938532" y="3106688"/>
            <a:ext cx="62158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sequências específicas de DNA localizadas em regiões promotoras ou intensificadoras.</a:t>
            </a:r>
          </a:p>
          <a:p>
            <a:endParaRPr lang="pt-PT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Os motifs regulatórios servem como sítios de ligação para fatores de transcrição, o que permite que as células ativem/ reprimam a expressão de genes de forma coordenada.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EC951154-7DE6-F7AF-3188-94B3C126285A}"/>
              </a:ext>
            </a:extLst>
          </p:cNvPr>
          <p:cNvSpPr txBox="1"/>
          <p:nvPr/>
        </p:nvSpPr>
        <p:spPr>
          <a:xfrm>
            <a:off x="9893658" y="2426178"/>
            <a:ext cx="45608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dirty="0">
                <a:solidFill>
                  <a:srgbClr val="A973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Motifs Regulatórios</a:t>
            </a:r>
          </a:p>
          <a:p>
            <a:endParaRPr lang="pt-PT" sz="3600" dirty="0">
              <a:solidFill>
                <a:srgbClr val="A9734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Arco 53">
            <a:extLst>
              <a:ext uri="{FF2B5EF4-FFF2-40B4-BE49-F238E27FC236}">
                <a16:creationId xmlns:a16="http://schemas.microsoft.com/office/drawing/2014/main" id="{1B18408F-5EA1-2929-4315-E869BB3509E2}"/>
              </a:ext>
            </a:extLst>
          </p:cNvPr>
          <p:cNvSpPr/>
          <p:nvPr/>
        </p:nvSpPr>
        <p:spPr>
          <a:xfrm>
            <a:off x="13813596" y="2763190"/>
            <a:ext cx="1371600" cy="1117122"/>
          </a:xfrm>
          <a:prstGeom prst="arc">
            <a:avLst/>
          </a:prstGeom>
          <a:ln w="28575" cap="flat" cmpd="sng" algn="ctr">
            <a:solidFill>
              <a:srgbClr val="A9734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3E5C0-D85E-7763-7641-7D4AF2C91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110C4E4-22DA-D639-FC01-853F07019BA5}"/>
              </a:ext>
            </a:extLst>
          </p:cNvPr>
          <p:cNvSpPr/>
          <p:nvPr/>
        </p:nvSpPr>
        <p:spPr>
          <a:xfrm>
            <a:off x="-5638800" y="-1714500"/>
            <a:ext cx="24612600" cy="95113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49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pt-PT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9C8D193-4DC7-6AB9-109A-0C92306269B1}"/>
              </a:ext>
            </a:extLst>
          </p:cNvPr>
          <p:cNvSpPr txBox="1"/>
          <p:nvPr/>
        </p:nvSpPr>
        <p:spPr>
          <a:xfrm>
            <a:off x="8915400" y="884247"/>
            <a:ext cx="2209800" cy="75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pt-PT" sz="6000" noProof="0" dirty="0">
                <a:solidFill>
                  <a:srgbClr val="A97341"/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rPr>
              <a:t>MEME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9E23DE1-CAE3-CA49-ADE1-2C35EECD50A3}"/>
              </a:ext>
            </a:extLst>
          </p:cNvPr>
          <p:cNvSpPr/>
          <p:nvPr/>
        </p:nvSpPr>
        <p:spPr>
          <a:xfrm flipV="1">
            <a:off x="8839200" y="1707816"/>
            <a:ext cx="8077199" cy="11372"/>
          </a:xfrm>
          <a:prstGeom prst="line">
            <a:avLst/>
          </a:prstGeom>
          <a:ln w="38100" cap="flat">
            <a:solidFill>
              <a:srgbClr val="A973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CEDA95B-F836-C1E2-1412-8731C38E2459}"/>
              </a:ext>
            </a:extLst>
          </p:cNvPr>
          <p:cNvSpPr txBox="1"/>
          <p:nvPr/>
        </p:nvSpPr>
        <p:spPr>
          <a:xfrm>
            <a:off x="9968134" y="2033492"/>
            <a:ext cx="7078946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Algoritmo probabilístico usado para a </a:t>
            </a:r>
          </a:p>
          <a:p>
            <a:pPr algn="r"/>
            <a:r>
              <a:rPr lang="pt-PT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descoberta de motifs ao encontrar padrões recorrentes em sequências não alinhadas utilizando</a:t>
            </a:r>
          </a:p>
          <a:p>
            <a:pPr algn="r"/>
            <a:endParaRPr lang="pt-PT" sz="5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/>
            <a:r>
              <a:rPr lang="pt-PT" sz="2800" b="1" dirty="0">
                <a:solidFill>
                  <a:srgbClr val="A9734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Expectation-Maximization (EM)</a:t>
            </a:r>
          </a:p>
          <a:p>
            <a:pPr algn="r"/>
            <a:endParaRPr lang="pt-PT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93B7C384-95C2-85B6-8DDE-05955059E8EB}"/>
              </a:ext>
            </a:extLst>
          </p:cNvPr>
          <p:cNvGrpSpPr/>
          <p:nvPr/>
        </p:nvGrpSpPr>
        <p:grpSpPr>
          <a:xfrm>
            <a:off x="11769221" y="4774927"/>
            <a:ext cx="4648200" cy="908342"/>
            <a:chOff x="914400" y="3841810"/>
            <a:chExt cx="4648200" cy="908342"/>
          </a:xfrm>
        </p:grpSpPr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3406D20A-22F3-7D44-F62C-AB317FE7CF62}"/>
                </a:ext>
              </a:extLst>
            </p:cNvPr>
            <p:cNvSpPr/>
            <p:nvPr/>
          </p:nvSpPr>
          <p:spPr>
            <a:xfrm>
              <a:off x="914400" y="3841810"/>
              <a:ext cx="4648200" cy="908342"/>
            </a:xfrm>
            <a:prstGeom prst="roundRect">
              <a:avLst>
                <a:gd name="adj" fmla="val 640"/>
              </a:avLst>
            </a:prstGeom>
            <a:solidFill>
              <a:srgbClr val="1C3954">
                <a:alpha val="70000"/>
              </a:srgbClr>
            </a:solidFill>
            <a:ln>
              <a:solidFill>
                <a:srgbClr val="A973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0" name="Shape 6">
              <a:extLst>
                <a:ext uri="{FF2B5EF4-FFF2-40B4-BE49-F238E27FC236}">
                  <a16:creationId xmlns:a16="http://schemas.microsoft.com/office/drawing/2014/main" id="{07801EC8-D6BF-D55D-C71F-CEA40BAC6CD2}"/>
                </a:ext>
              </a:extLst>
            </p:cNvPr>
            <p:cNvSpPr/>
            <p:nvPr/>
          </p:nvSpPr>
          <p:spPr>
            <a:xfrm>
              <a:off x="914400" y="3841810"/>
              <a:ext cx="1828800" cy="908342"/>
            </a:xfrm>
            <a:prstGeom prst="rect">
              <a:avLst/>
            </a:prstGeom>
            <a:solidFill>
              <a:srgbClr val="A97341"/>
            </a:solidFill>
            <a:ln w="12700">
              <a:solidFill>
                <a:srgbClr val="A97341"/>
              </a:solidFill>
              <a:prstDash val="solid"/>
            </a:ln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3860A82D-6C53-185D-A35F-4A04C8D7F96C}"/>
                </a:ext>
              </a:extLst>
            </p:cNvPr>
            <p:cNvSpPr txBox="1"/>
            <p:nvPr/>
          </p:nvSpPr>
          <p:spPr>
            <a:xfrm>
              <a:off x="1096254" y="4053082"/>
              <a:ext cx="14650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E-STEP</a:t>
              </a:r>
            </a:p>
          </p:txBody>
        </p:sp>
        <p:sp>
          <p:nvSpPr>
            <p:cNvPr id="32" name="Text 8">
              <a:extLst>
                <a:ext uri="{FF2B5EF4-FFF2-40B4-BE49-F238E27FC236}">
                  <a16:creationId xmlns:a16="http://schemas.microsoft.com/office/drawing/2014/main" id="{F6893FC6-8F40-8CBE-8D9D-2700F638ADCE}"/>
                </a:ext>
              </a:extLst>
            </p:cNvPr>
            <p:cNvSpPr/>
            <p:nvPr/>
          </p:nvSpPr>
          <p:spPr>
            <a:xfrm>
              <a:off x="2878911" y="4076700"/>
              <a:ext cx="2531290" cy="4451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A9734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 Light" panose="00000400000000000000" pitchFamily="2" charset="0"/>
                  <a:ea typeface="Calibri" pitchFamily="34" charset="-122"/>
                  <a:cs typeface="Poppins Light" panose="00000400000000000000" pitchFamily="2" charset="0"/>
                </a:rPr>
                <a:t>Expectation</a:t>
              </a:r>
              <a:endPara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2B9030F6-87AC-3970-6357-18C070A82ECF}"/>
              </a:ext>
            </a:extLst>
          </p:cNvPr>
          <p:cNvGrpSpPr/>
          <p:nvPr/>
        </p:nvGrpSpPr>
        <p:grpSpPr>
          <a:xfrm>
            <a:off x="11734800" y="6692136"/>
            <a:ext cx="4648201" cy="805766"/>
            <a:chOff x="914400" y="7415155"/>
            <a:chExt cx="4648201" cy="805766"/>
          </a:xfrm>
        </p:grpSpPr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ACA32B8A-5560-F2D2-81AC-1960EA475645}"/>
                </a:ext>
              </a:extLst>
            </p:cNvPr>
            <p:cNvSpPr/>
            <p:nvPr/>
          </p:nvSpPr>
          <p:spPr>
            <a:xfrm>
              <a:off x="914400" y="7415155"/>
              <a:ext cx="4648200" cy="805766"/>
            </a:xfrm>
            <a:prstGeom prst="roundRect">
              <a:avLst>
                <a:gd name="adj" fmla="val 640"/>
              </a:avLst>
            </a:prstGeom>
            <a:solidFill>
              <a:srgbClr val="1C3954">
                <a:alpha val="70000"/>
              </a:srgbClr>
            </a:solidFill>
            <a:ln>
              <a:solidFill>
                <a:srgbClr val="00B4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4" name="Shape 6">
              <a:extLst>
                <a:ext uri="{FF2B5EF4-FFF2-40B4-BE49-F238E27FC236}">
                  <a16:creationId xmlns:a16="http://schemas.microsoft.com/office/drawing/2014/main" id="{26E6DBA7-F9F4-7D86-D83A-7115595AB64C}"/>
                </a:ext>
              </a:extLst>
            </p:cNvPr>
            <p:cNvSpPr/>
            <p:nvPr/>
          </p:nvSpPr>
          <p:spPr>
            <a:xfrm>
              <a:off x="914400" y="7415155"/>
              <a:ext cx="1828800" cy="805766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8CCD0F67-A9F7-FFFB-3863-F7BDE7FD52B0}"/>
                </a:ext>
              </a:extLst>
            </p:cNvPr>
            <p:cNvSpPr txBox="1"/>
            <p:nvPr/>
          </p:nvSpPr>
          <p:spPr>
            <a:xfrm>
              <a:off x="1005327" y="7590109"/>
              <a:ext cx="16469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M-STEP</a:t>
              </a:r>
            </a:p>
          </p:txBody>
        </p:sp>
        <p:sp>
          <p:nvSpPr>
            <p:cNvPr id="36" name="Text 8">
              <a:extLst>
                <a:ext uri="{FF2B5EF4-FFF2-40B4-BE49-F238E27FC236}">
                  <a16:creationId xmlns:a16="http://schemas.microsoft.com/office/drawing/2014/main" id="{93E85C57-FB0B-FE49-B48D-B66C57E61DCA}"/>
                </a:ext>
              </a:extLst>
            </p:cNvPr>
            <p:cNvSpPr/>
            <p:nvPr/>
          </p:nvSpPr>
          <p:spPr>
            <a:xfrm>
              <a:off x="2878911" y="7554311"/>
              <a:ext cx="2683690" cy="5274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00B4D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 Light" panose="00000400000000000000" pitchFamily="2" charset="0"/>
                  <a:ea typeface="Calibri" pitchFamily="34" charset="-122"/>
                  <a:cs typeface="Poppins Light" panose="00000400000000000000" pitchFamily="2" charset="0"/>
                </a:rPr>
                <a:t>Maximization</a:t>
              </a:r>
              <a:endPara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93C80ED-31C9-6F4D-1B6F-1B54AF09D253}"/>
              </a:ext>
            </a:extLst>
          </p:cNvPr>
          <p:cNvGrpSpPr/>
          <p:nvPr/>
        </p:nvGrpSpPr>
        <p:grpSpPr>
          <a:xfrm>
            <a:off x="13008066" y="5917927"/>
            <a:ext cx="2170507" cy="539551"/>
            <a:chOff x="4572000" y="6495285"/>
            <a:chExt cx="2170507" cy="539551"/>
          </a:xfrm>
        </p:grpSpPr>
        <p:sp>
          <p:nvSpPr>
            <p:cNvPr id="37" name="Shape 6">
              <a:extLst>
                <a:ext uri="{FF2B5EF4-FFF2-40B4-BE49-F238E27FC236}">
                  <a16:creationId xmlns:a16="http://schemas.microsoft.com/office/drawing/2014/main" id="{493A324B-7B51-1CD5-5A9B-896ACD8F227A}"/>
                </a:ext>
              </a:extLst>
            </p:cNvPr>
            <p:cNvSpPr/>
            <p:nvPr/>
          </p:nvSpPr>
          <p:spPr>
            <a:xfrm>
              <a:off x="4572000" y="6511616"/>
              <a:ext cx="2170507" cy="523220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77E2820E-B01F-A13E-D900-E2AA81E458EE}"/>
                </a:ext>
              </a:extLst>
            </p:cNvPr>
            <p:cNvSpPr txBox="1"/>
            <p:nvPr/>
          </p:nvSpPr>
          <p:spPr>
            <a:xfrm>
              <a:off x="4632235" y="6495285"/>
              <a:ext cx="1981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↓ </a:t>
              </a:r>
              <a:r>
                <a:rPr lang="en-US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atualiza</a:t>
              </a:r>
              <a:endPara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DCCA45F4-13C1-20DF-968B-6719434AFE28}"/>
              </a:ext>
            </a:extLst>
          </p:cNvPr>
          <p:cNvSpPr txBox="1"/>
          <p:nvPr/>
        </p:nvSpPr>
        <p:spPr>
          <a:xfrm>
            <a:off x="11108510" y="955462"/>
            <a:ext cx="6172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800" noProof="0" dirty="0">
                <a:solidFill>
                  <a:srgbClr val="FFFFFF"/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rPr>
              <a:t>(Multiple Em for Motif Elicitation)</a:t>
            </a:r>
            <a:endParaRPr lang="pt-PT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D207287-B2C4-A9C3-642B-DD468E3A2FB4}"/>
              </a:ext>
            </a:extLst>
          </p:cNvPr>
          <p:cNvSpPr/>
          <p:nvPr/>
        </p:nvSpPr>
        <p:spPr>
          <a:xfrm>
            <a:off x="928734" y="6669746"/>
            <a:ext cx="5486400" cy="1082736"/>
          </a:xfrm>
          <a:prstGeom prst="rect">
            <a:avLst/>
          </a:prstGeom>
          <a:solidFill>
            <a:srgbClr val="11D7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A32E62A-E87E-0C92-EE26-672A6C8836BC}"/>
              </a:ext>
            </a:extLst>
          </p:cNvPr>
          <p:cNvSpPr/>
          <p:nvPr/>
        </p:nvSpPr>
        <p:spPr>
          <a:xfrm>
            <a:off x="1004934" y="6974546"/>
            <a:ext cx="5334000" cy="510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Métodos Determinísticos</a:t>
            </a:r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3CDE6C4-63E6-C092-E877-8C5FF6FDA031}"/>
              </a:ext>
            </a:extLst>
          </p:cNvPr>
          <p:cNvSpPr/>
          <p:nvPr/>
        </p:nvSpPr>
        <p:spPr>
          <a:xfrm>
            <a:off x="928734" y="2913877"/>
            <a:ext cx="5486400" cy="1082736"/>
          </a:xfrm>
          <a:prstGeom prst="rect">
            <a:avLst/>
          </a:prstGeom>
          <a:solidFill>
            <a:srgbClr val="A9734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FCE73A68-3561-A260-5FF4-2A20947D7CB0}"/>
              </a:ext>
            </a:extLst>
          </p:cNvPr>
          <p:cNvSpPr/>
          <p:nvPr/>
        </p:nvSpPr>
        <p:spPr>
          <a:xfrm>
            <a:off x="1004934" y="3218677"/>
            <a:ext cx="5334000" cy="510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Métodos Probabilísticos</a:t>
            </a:r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AA4C8AF-6F32-0FF2-C55F-272F42DC8B6E}"/>
              </a:ext>
            </a:extLst>
          </p:cNvPr>
          <p:cNvSpPr/>
          <p:nvPr/>
        </p:nvSpPr>
        <p:spPr>
          <a:xfrm>
            <a:off x="401058" y="7707019"/>
            <a:ext cx="6545842" cy="208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Procuram motifs através da enumeração e contagem de palavras exatas.</a:t>
            </a:r>
          </a:p>
          <a:p>
            <a:pPr algn="ctr"/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Exemplo: WINNOWER</a:t>
            </a: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3C1B454A-7CF3-0D0E-C6EF-6704959828C3}"/>
              </a:ext>
            </a:extLst>
          </p:cNvPr>
          <p:cNvSpPr/>
          <p:nvPr/>
        </p:nvSpPr>
        <p:spPr>
          <a:xfrm>
            <a:off x="749094" y="4000500"/>
            <a:ext cx="5845679" cy="208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Representam o motif como um modelo estatístico otimizado de forma iterativa e heurística</a:t>
            </a:r>
          </a:p>
          <a:p>
            <a:pPr algn="ctr"/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Exemplo: </a:t>
            </a:r>
            <a:r>
              <a:rPr lang="pt-PT" sz="2800" b="1" dirty="0">
                <a:solidFill>
                  <a:srgbClr val="A973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MEME</a:t>
            </a:r>
          </a:p>
        </p:txBody>
      </p:sp>
      <p:sp>
        <p:nvSpPr>
          <p:cNvPr id="17" name="Arco 16">
            <a:extLst>
              <a:ext uri="{FF2B5EF4-FFF2-40B4-BE49-F238E27FC236}">
                <a16:creationId xmlns:a16="http://schemas.microsoft.com/office/drawing/2014/main" id="{2A80CCA3-9BD2-6312-A41C-F915832A8117}"/>
              </a:ext>
            </a:extLst>
          </p:cNvPr>
          <p:cNvSpPr/>
          <p:nvPr/>
        </p:nvSpPr>
        <p:spPr>
          <a:xfrm flipV="1">
            <a:off x="5212802" y="559384"/>
            <a:ext cx="3216369" cy="2977759"/>
          </a:xfrm>
          <a:prstGeom prst="arc">
            <a:avLst/>
          </a:prstGeom>
          <a:ln w="38100" cap="flat" cmpd="sng" algn="ctr">
            <a:solidFill>
              <a:srgbClr val="A9734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24FF1E6-5E1F-13DD-9072-C61D18115BD7}"/>
              </a:ext>
            </a:extLst>
          </p:cNvPr>
          <p:cNvSpPr/>
          <p:nvPr/>
        </p:nvSpPr>
        <p:spPr>
          <a:xfrm>
            <a:off x="1659800" y="1537607"/>
            <a:ext cx="4024266" cy="510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Métodos de Motif Finding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542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2187B-5320-D310-15D3-823AE177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9654E7-D0F7-6DB5-64AF-F0B24B218BE7}"/>
              </a:ext>
            </a:extLst>
          </p:cNvPr>
          <p:cNvSpPr/>
          <p:nvPr/>
        </p:nvSpPr>
        <p:spPr>
          <a:xfrm>
            <a:off x="-5486400" y="-1790700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34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pt-PT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DD424C9-FE4C-0874-2680-C4D12BC0E63E}"/>
              </a:ext>
            </a:extLst>
          </p:cNvPr>
          <p:cNvSpPr/>
          <p:nvPr/>
        </p:nvSpPr>
        <p:spPr>
          <a:xfrm flipV="1">
            <a:off x="914400" y="1768390"/>
            <a:ext cx="13258800" cy="0"/>
          </a:xfrm>
          <a:prstGeom prst="line">
            <a:avLst/>
          </a:prstGeom>
          <a:ln w="38100" cap="flat">
            <a:solidFill>
              <a:srgbClr val="A973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3F79623-1F1A-D6B7-A9B9-F2693A7D75FD}"/>
              </a:ext>
            </a:extLst>
          </p:cNvPr>
          <p:cNvSpPr txBox="1"/>
          <p:nvPr/>
        </p:nvSpPr>
        <p:spPr>
          <a:xfrm>
            <a:off x="914400" y="1028700"/>
            <a:ext cx="140208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pt-PT" sz="5600" noProof="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MEME (Multiple Em for Motif Elicitation)</a:t>
            </a:r>
          </a:p>
        </p:txBody>
      </p: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6C1CCC8F-67ED-782B-37DD-4657EA1CB1FC}"/>
              </a:ext>
            </a:extLst>
          </p:cNvPr>
          <p:cNvGrpSpPr/>
          <p:nvPr/>
        </p:nvGrpSpPr>
        <p:grpSpPr>
          <a:xfrm>
            <a:off x="-5638800" y="3350754"/>
            <a:ext cx="12680228" cy="6440946"/>
            <a:chOff x="11354160" y="4194682"/>
            <a:chExt cx="9794368" cy="6440946"/>
          </a:xfrm>
        </p:grpSpPr>
        <p:graphicFrame>
          <p:nvGraphicFramePr>
            <p:cNvPr id="41" name="Diagrama 40">
              <a:extLst>
                <a:ext uri="{FF2B5EF4-FFF2-40B4-BE49-F238E27FC236}">
                  <a16:creationId xmlns:a16="http://schemas.microsoft.com/office/drawing/2014/main" id="{987E848E-24D9-3351-1F04-25EC65A943D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39722933"/>
                </p:ext>
              </p:extLst>
            </p:nvPr>
          </p:nvGraphicFramePr>
          <p:xfrm>
            <a:off x="11354160" y="4194682"/>
            <a:ext cx="9794368" cy="644094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94B7D9B5-0EB3-2F36-7FDE-9DFD9D170663}"/>
                </a:ext>
              </a:extLst>
            </p:cNvPr>
            <p:cNvSpPr txBox="1"/>
            <p:nvPr/>
          </p:nvSpPr>
          <p:spPr>
            <a:xfrm>
              <a:off x="15768498" y="5022185"/>
              <a:ext cx="171819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OOPS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4F09C1F1-9F9E-91BD-1474-322EE1058DCF}"/>
                </a:ext>
              </a:extLst>
            </p:cNvPr>
            <p:cNvSpPr txBox="1"/>
            <p:nvPr/>
          </p:nvSpPr>
          <p:spPr>
            <a:xfrm>
              <a:off x="16281342" y="7025471"/>
              <a:ext cx="248890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ZOOPS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EF5CD5B2-7778-0ABB-B3AC-E329B9791F09}"/>
                </a:ext>
              </a:extLst>
            </p:cNvPr>
            <p:cNvSpPr txBox="1"/>
            <p:nvPr/>
          </p:nvSpPr>
          <p:spPr>
            <a:xfrm>
              <a:off x="15709640" y="9107183"/>
              <a:ext cx="171819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ANR</a:t>
              </a: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D211541-0C69-08E6-7C3F-83D834BE4CC1}"/>
              </a:ext>
            </a:extLst>
          </p:cNvPr>
          <p:cNvSpPr txBox="1"/>
          <p:nvPr/>
        </p:nvSpPr>
        <p:spPr>
          <a:xfrm>
            <a:off x="849918" y="2161282"/>
            <a:ext cx="6224963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PT" sz="3200" b="1" dirty="0">
                <a:solidFill>
                  <a:srgbClr val="A97341"/>
                </a:solidFill>
                <a:effectLst>
                  <a:outerShdw blurRad="50800" dist="38100" dir="2700000" sx="104000" sy="104000" algn="tl" rotWithShape="0">
                    <a:prstClr val="black">
                      <a:alpha val="40000"/>
                    </a:prst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Modelos de distribuições </a:t>
            </a:r>
          </a:p>
          <a:p>
            <a:r>
              <a:rPr lang="pt-PT" sz="3200" b="1" dirty="0">
                <a:solidFill>
                  <a:srgbClr val="A97341"/>
                </a:solidFill>
                <a:effectLst>
                  <a:outerShdw blurRad="50800" dist="38100" dir="2700000" sx="104000" sy="104000" algn="tl" rotWithShape="0">
                    <a:prstClr val="black">
                      <a:alpha val="40000"/>
                    </a:prst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de ocorrências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76CE7B-E2D0-4C7B-CCD8-67054E0196A8}"/>
              </a:ext>
            </a:extLst>
          </p:cNvPr>
          <p:cNvSpPr txBox="1"/>
          <p:nvPr/>
        </p:nvSpPr>
        <p:spPr>
          <a:xfrm>
            <a:off x="2453054" y="3965069"/>
            <a:ext cx="35051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One Occurrence Per Sequence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38A860A9-D96D-B69C-8146-7CDA81087080}"/>
              </a:ext>
            </a:extLst>
          </p:cNvPr>
          <p:cNvSpPr txBox="1"/>
          <p:nvPr/>
        </p:nvSpPr>
        <p:spPr>
          <a:xfrm>
            <a:off x="3614133" y="6063620"/>
            <a:ext cx="48248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Zero or One </a:t>
            </a:r>
          </a:p>
          <a:p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Occurrence Per Sequence</a:t>
            </a:r>
            <a:endParaRPr lang="pt-PT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99360DC2-6138-6E12-0565-841928D0D766}"/>
              </a:ext>
            </a:extLst>
          </p:cNvPr>
          <p:cNvSpPr txBox="1"/>
          <p:nvPr/>
        </p:nvSpPr>
        <p:spPr>
          <a:xfrm>
            <a:off x="2521338" y="7999393"/>
            <a:ext cx="35051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Any Number of Repetitions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517AFB9-92A5-6124-C837-1DBB136A14E4}"/>
              </a:ext>
            </a:extLst>
          </p:cNvPr>
          <p:cNvGrpSpPr/>
          <p:nvPr/>
        </p:nvGrpSpPr>
        <p:grpSpPr>
          <a:xfrm>
            <a:off x="10681475" y="3406372"/>
            <a:ext cx="6858000" cy="5776077"/>
            <a:chOff x="10285227" y="4320423"/>
            <a:chExt cx="6858000" cy="5776077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29C62ED9-498B-EB0C-185F-E71638BEFF8D}"/>
                </a:ext>
              </a:extLst>
            </p:cNvPr>
            <p:cNvSpPr/>
            <p:nvPr/>
          </p:nvSpPr>
          <p:spPr>
            <a:xfrm>
              <a:off x="10285227" y="4329791"/>
              <a:ext cx="6858000" cy="5766709"/>
            </a:xfrm>
            <a:prstGeom prst="roundRect">
              <a:avLst>
                <a:gd name="adj" fmla="val 640"/>
              </a:avLst>
            </a:prstGeom>
            <a:solidFill>
              <a:srgbClr val="1C3954">
                <a:alpha val="70000"/>
              </a:srgbClr>
            </a:solidFill>
            <a:ln>
              <a:solidFill>
                <a:srgbClr val="A973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" name="Shape 6">
              <a:extLst>
                <a:ext uri="{FF2B5EF4-FFF2-40B4-BE49-F238E27FC236}">
                  <a16:creationId xmlns:a16="http://schemas.microsoft.com/office/drawing/2014/main" id="{599AE757-A3A2-1FA9-48F4-0CBDDCA2115A}"/>
                </a:ext>
              </a:extLst>
            </p:cNvPr>
            <p:cNvSpPr/>
            <p:nvPr/>
          </p:nvSpPr>
          <p:spPr>
            <a:xfrm>
              <a:off x="10285227" y="4320423"/>
              <a:ext cx="6858000" cy="632498"/>
            </a:xfrm>
            <a:prstGeom prst="rect">
              <a:avLst/>
            </a:prstGeom>
            <a:solidFill>
              <a:srgbClr val="A97341"/>
            </a:solidFill>
            <a:ln w="12700">
              <a:solidFill>
                <a:srgbClr val="A97341"/>
              </a:solidFill>
              <a:prstDash val="solid"/>
            </a:ln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E9FE3573-3640-4C05-0F19-0F87B345E083}"/>
                </a:ext>
              </a:extLst>
            </p:cNvPr>
            <p:cNvSpPr/>
            <p:nvPr/>
          </p:nvSpPr>
          <p:spPr>
            <a:xfrm>
              <a:off x="10471719" y="5276196"/>
              <a:ext cx="6569104" cy="43627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pt-PT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número esperado de motifs com uma pontuação igual ou superior que seriam encontrados num conjunto de sequências aleatórias do mesmo tamanho e composição.</a:t>
              </a:r>
            </a:p>
            <a:p>
              <a:endParaRPr lang="pt-PT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pt-PT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E-value </a:t>
              </a:r>
              <a:r>
                <a:rPr lang="pt-PT" sz="2800" b="1" dirty="0">
                  <a:solidFill>
                    <a:srgbClr val="A9734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&lt; 0.05 </a:t>
              </a:r>
              <a:r>
                <a:rPr lang="pt-PT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→ </a:t>
              </a:r>
              <a:r>
                <a:rPr lang="pt-PT" sz="2800" b="1" dirty="0">
                  <a:solidFill>
                    <a:srgbClr val="A9734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motif estatisticamente significativo</a:t>
              </a:r>
              <a:r>
                <a:rPr lang="pt-PT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.  </a:t>
              </a:r>
            </a:p>
            <a:p>
              <a:r>
                <a:rPr lang="pt-PT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</a:p>
            <a:p>
              <a:r>
                <a:rPr lang="pt-PT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E-value </a:t>
              </a:r>
              <a:r>
                <a:rPr lang="pt-PT" sz="2800" b="1" dirty="0">
                  <a:solidFill>
                    <a:srgbClr val="00B4D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&gt;&gt; 1 </a:t>
              </a:r>
              <a:r>
                <a:rPr lang="pt-PT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→ </a:t>
              </a:r>
              <a:r>
                <a:rPr lang="pt-PT" sz="2800" b="1" dirty="0">
                  <a:solidFill>
                    <a:srgbClr val="00B4D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motif estatisticamente insignificante</a:t>
              </a:r>
              <a:r>
                <a:rPr lang="pt-PT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.</a:t>
              </a:r>
              <a:r>
                <a:rPr lang="pt-PT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2B13736C-4A5D-F6BB-B180-5A076CE40255}"/>
                </a:ext>
              </a:extLst>
            </p:cNvPr>
            <p:cNvSpPr/>
            <p:nvPr/>
          </p:nvSpPr>
          <p:spPr>
            <a:xfrm>
              <a:off x="10436396" y="4492258"/>
              <a:ext cx="6307919" cy="393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E-Value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3332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E63B8-0313-05B5-EACE-0EBAFAF6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E9C1A8-B29D-C016-6BD0-1B8315129254}"/>
              </a:ext>
            </a:extLst>
          </p:cNvPr>
          <p:cNvSpPr/>
          <p:nvPr/>
        </p:nvSpPr>
        <p:spPr>
          <a:xfrm>
            <a:off x="-685800" y="2908335"/>
            <a:ext cx="15153579" cy="88909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34000"/>
            </a:blip>
            <a:srcRect/>
            <a:stretch>
              <a:fillRect l="-132092" t="1" b="-92106"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AE36085-319D-A296-42E2-960C9D00E0DF}"/>
              </a:ext>
            </a:extLst>
          </p:cNvPr>
          <p:cNvSpPr/>
          <p:nvPr/>
        </p:nvSpPr>
        <p:spPr>
          <a:xfrm>
            <a:off x="990600" y="1866899"/>
            <a:ext cx="12420600" cy="35226"/>
          </a:xfrm>
          <a:prstGeom prst="line">
            <a:avLst/>
          </a:prstGeom>
          <a:ln w="38100" cap="flat">
            <a:solidFill>
              <a:srgbClr val="00B4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DE81865-5A17-BF77-FFE9-851183E7C885}"/>
              </a:ext>
            </a:extLst>
          </p:cNvPr>
          <p:cNvSpPr txBox="1"/>
          <p:nvPr/>
        </p:nvSpPr>
        <p:spPr>
          <a:xfrm>
            <a:off x="914400" y="1028700"/>
            <a:ext cx="133350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pt-PT" sz="5600" noProof="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S. cerevisiae e a Resposta ao Stress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464142F-17BE-2716-81DC-1B690A6F714D}"/>
              </a:ext>
            </a:extLst>
          </p:cNvPr>
          <p:cNvSpPr/>
          <p:nvPr/>
        </p:nvSpPr>
        <p:spPr>
          <a:xfrm>
            <a:off x="2206992" y="2237971"/>
            <a:ext cx="13874016" cy="577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Light" panose="00000400000000000000" pitchFamily="2" charset="0"/>
                <a:ea typeface="Calibri" pitchFamily="34" charset="-122"/>
                <a:cs typeface="Poppins Light" panose="00000400000000000000" pitchFamily="2" charset="0"/>
              </a:rPr>
              <a:t>Environmental Stress Response (ESR) — Gasch et al., 2000</a:t>
            </a:r>
            <a:endParaRPr lang="en-US" sz="3600" b="1" dirty="0">
              <a:solidFill>
                <a:srgbClr val="00B4D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0DF2EF6-D818-77EC-7C8C-6FE4E3A287F3}"/>
              </a:ext>
            </a:extLst>
          </p:cNvPr>
          <p:cNvSpPr/>
          <p:nvPr/>
        </p:nvSpPr>
        <p:spPr>
          <a:xfrm>
            <a:off x="2133600" y="2464564"/>
            <a:ext cx="14020800" cy="1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F4FD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 levedura possui um programa transcricional comum que regula ~900 genes em resposta a quase qualquer tipo de stress ambiental — desde choque térmico a stress oxidativo.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Arco 5">
            <a:extLst>
              <a:ext uri="{FF2B5EF4-FFF2-40B4-BE49-F238E27FC236}">
                <a16:creationId xmlns:a16="http://schemas.microsoft.com/office/drawing/2014/main" id="{B68F0077-398A-2BC2-EF14-9EB92CB42788}"/>
              </a:ext>
            </a:extLst>
          </p:cNvPr>
          <p:cNvSpPr/>
          <p:nvPr/>
        </p:nvSpPr>
        <p:spPr>
          <a:xfrm rot="20506460" flipH="1">
            <a:off x="1892891" y="2483511"/>
            <a:ext cx="1371600" cy="1117122"/>
          </a:xfrm>
          <a:prstGeom prst="arc">
            <a:avLst/>
          </a:prstGeom>
          <a:ln w="28575" cap="flat" cmpd="sng" algn="ctr">
            <a:solidFill>
              <a:srgbClr val="00B4D8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34039EB-7C81-BA6E-9C9B-2D7883726A64}"/>
              </a:ext>
            </a:extLst>
          </p:cNvPr>
          <p:cNvGrpSpPr/>
          <p:nvPr/>
        </p:nvGrpSpPr>
        <p:grpSpPr>
          <a:xfrm>
            <a:off x="391221" y="4065187"/>
            <a:ext cx="6858000" cy="2754713"/>
            <a:chOff x="708266" y="4369987"/>
            <a:chExt cx="6858000" cy="2754713"/>
          </a:xfrm>
        </p:grpSpPr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BA5CD001-3566-BF4A-CC4E-10479EC903FE}"/>
                </a:ext>
              </a:extLst>
            </p:cNvPr>
            <p:cNvSpPr/>
            <p:nvPr/>
          </p:nvSpPr>
          <p:spPr>
            <a:xfrm>
              <a:off x="708266" y="4379356"/>
              <a:ext cx="6858000" cy="2745344"/>
            </a:xfrm>
            <a:prstGeom prst="roundRect">
              <a:avLst>
                <a:gd name="adj" fmla="val 640"/>
              </a:avLst>
            </a:prstGeom>
            <a:solidFill>
              <a:srgbClr val="1C3954">
                <a:alpha val="70000"/>
              </a:srgbClr>
            </a:solidFill>
            <a:ln>
              <a:solidFill>
                <a:srgbClr val="00B4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C043AB9F-0F22-C68F-3717-4BB15177089A}"/>
                </a:ext>
              </a:extLst>
            </p:cNvPr>
            <p:cNvSpPr/>
            <p:nvPr/>
          </p:nvSpPr>
          <p:spPr>
            <a:xfrm>
              <a:off x="708266" y="4369987"/>
              <a:ext cx="6858000" cy="632498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33913938-EB42-58FE-ACF9-3C55CF2F51B8}"/>
                </a:ext>
              </a:extLst>
            </p:cNvPr>
            <p:cNvSpPr/>
            <p:nvPr/>
          </p:nvSpPr>
          <p:spPr>
            <a:xfrm>
              <a:off x="846535" y="5342304"/>
              <a:ext cx="589598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00B4D8"/>
                  </a:solidFill>
                  <a:latin typeface="Poppins Light" panose="00000400000000000000" pitchFamily="2" charset="0"/>
                  <a:ea typeface="Calibri" pitchFamily="34" charset="-122"/>
                  <a:cs typeface="Poppins Light" panose="00000400000000000000" pitchFamily="2" charset="0"/>
                </a:rPr>
                <a:t>Motif: Heat Shock Element (HSE)</a:t>
              </a:r>
              <a:endParaRPr lang="en-US" sz="2800" b="1" dirty="0">
                <a:solidFill>
                  <a:srgbClr val="00B4D8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E3B93300-BB43-CD4F-FDBF-5E47961F3157}"/>
                </a:ext>
              </a:extLst>
            </p:cNvPr>
            <p:cNvSpPr/>
            <p:nvPr/>
          </p:nvSpPr>
          <p:spPr>
            <a:xfrm>
              <a:off x="1185519" y="5753100"/>
              <a:ext cx="5403511" cy="6475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chemeClr val="bg1"/>
                  </a:solidFill>
                  <a:latin typeface="Poppins Light" panose="00000400000000000000" pitchFamily="2" charset="0"/>
                  <a:ea typeface="Consolas" pitchFamily="34" charset="-122"/>
                  <a:cs typeface="Poppins Light" panose="00000400000000000000" pitchFamily="2" charset="0"/>
                </a:rPr>
                <a:t>nGAAn · nGAAn · nGAAn</a:t>
              </a:r>
              <a:endParaRPr lang="en-US" sz="36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3B4CA32A-D133-D7CC-8C08-4BAA7DBCCDA1}"/>
                </a:ext>
              </a:extLst>
            </p:cNvPr>
            <p:cNvSpPr/>
            <p:nvPr/>
          </p:nvSpPr>
          <p:spPr>
            <a:xfrm>
              <a:off x="889000" y="6246926"/>
              <a:ext cx="6606934" cy="8228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B0C4D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 Light" panose="00000400000000000000" pitchFamily="2" charset="0"/>
                  <a:ea typeface="Calibri" pitchFamily="34" charset="-122"/>
                  <a:cs typeface="Poppins Light" panose="00000400000000000000" pitchFamily="2" charset="0"/>
                </a:rPr>
                <a:t>Genes alvo: </a:t>
              </a:r>
              <a:r>
                <a:rPr lang="en-US" sz="2800" b="1" i="1" dirty="0">
                  <a:solidFill>
                    <a:srgbClr val="00B4D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 Light" panose="00000400000000000000" pitchFamily="2" charset="0"/>
                  <a:ea typeface="Calibri" pitchFamily="34" charset="-122"/>
                  <a:cs typeface="Poppins Light" panose="00000400000000000000" pitchFamily="2" charset="0"/>
                </a:rPr>
                <a:t>HSP104, SSA1, SSA2, HSP82</a:t>
              </a:r>
              <a:endPara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413C2A37-4C76-F3E7-F624-423D64A6B36D}"/>
                </a:ext>
              </a:extLst>
            </p:cNvPr>
            <p:cNvSpPr/>
            <p:nvPr/>
          </p:nvSpPr>
          <p:spPr>
            <a:xfrm>
              <a:off x="816055" y="4501430"/>
              <a:ext cx="6499145" cy="3627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HSF1 — Heat Shock Factor 1</a:t>
              </a:r>
              <a:endParaRPr lang="en-US" sz="3200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D77A867-2846-0AF7-A80A-C91B843E6774}"/>
              </a:ext>
            </a:extLst>
          </p:cNvPr>
          <p:cNvGrpSpPr/>
          <p:nvPr/>
        </p:nvGrpSpPr>
        <p:grpSpPr>
          <a:xfrm>
            <a:off x="391221" y="6970533"/>
            <a:ext cx="6996269" cy="2897367"/>
            <a:chOff x="10285227" y="4320423"/>
            <a:chExt cx="6996269" cy="2897367"/>
          </a:xfrm>
        </p:grpSpPr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78F41DB2-FC71-4140-07CE-87DAF8AA66F7}"/>
                </a:ext>
              </a:extLst>
            </p:cNvPr>
            <p:cNvSpPr/>
            <p:nvPr/>
          </p:nvSpPr>
          <p:spPr>
            <a:xfrm>
              <a:off x="10285227" y="4329791"/>
              <a:ext cx="6858000" cy="2887999"/>
            </a:xfrm>
            <a:prstGeom prst="roundRect">
              <a:avLst>
                <a:gd name="adj" fmla="val 640"/>
              </a:avLst>
            </a:prstGeom>
            <a:solidFill>
              <a:srgbClr val="1C3954">
                <a:alpha val="70000"/>
              </a:srgbClr>
            </a:solidFill>
            <a:ln>
              <a:solidFill>
                <a:srgbClr val="A973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1" name="Shape 6">
              <a:extLst>
                <a:ext uri="{FF2B5EF4-FFF2-40B4-BE49-F238E27FC236}">
                  <a16:creationId xmlns:a16="http://schemas.microsoft.com/office/drawing/2014/main" id="{C8ADB923-960D-AAFB-4103-D70FE8791249}"/>
                </a:ext>
              </a:extLst>
            </p:cNvPr>
            <p:cNvSpPr/>
            <p:nvPr/>
          </p:nvSpPr>
          <p:spPr>
            <a:xfrm>
              <a:off x="10285227" y="4320423"/>
              <a:ext cx="6858000" cy="632498"/>
            </a:xfrm>
            <a:prstGeom prst="rect">
              <a:avLst/>
            </a:prstGeom>
            <a:solidFill>
              <a:srgbClr val="A97341"/>
            </a:solidFill>
            <a:ln w="12700">
              <a:solidFill>
                <a:srgbClr val="A97341"/>
              </a:solidFill>
              <a:prstDash val="solid"/>
            </a:ln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C929E5D4-BD1F-E92B-58D0-4A4B464C4368}"/>
                </a:ext>
              </a:extLst>
            </p:cNvPr>
            <p:cNvSpPr/>
            <p:nvPr/>
          </p:nvSpPr>
          <p:spPr>
            <a:xfrm>
              <a:off x="10423496" y="5292740"/>
              <a:ext cx="6858000" cy="305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800" b="1" dirty="0">
                  <a:solidFill>
                    <a:srgbClr val="A97341"/>
                  </a:solidFill>
                  <a:latin typeface="Poppins Light" panose="00000400000000000000" pitchFamily="2" charset="0"/>
                  <a:ea typeface="Calibri" pitchFamily="34" charset="-122"/>
                  <a:cs typeface="Poppins Light" panose="00000400000000000000" pitchFamily="2" charset="0"/>
                </a:rPr>
                <a:t>Motif: Stress Response Element (STRE)</a:t>
              </a:r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1EE58F96-DCB5-E71B-883D-1AD86DD8F1F8}"/>
                </a:ext>
              </a:extLst>
            </p:cNvPr>
            <p:cNvSpPr/>
            <p:nvPr/>
          </p:nvSpPr>
          <p:spPr>
            <a:xfrm>
              <a:off x="10721734" y="5823466"/>
              <a:ext cx="5403511" cy="6475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chemeClr val="bg1"/>
                  </a:solidFill>
                  <a:latin typeface="Poppins Light" panose="00000400000000000000" pitchFamily="2" charset="0"/>
                  <a:ea typeface="Consolas" pitchFamily="34" charset="-122"/>
                  <a:cs typeface="Poppins Light" panose="00000400000000000000" pitchFamily="2" charset="0"/>
                </a:rPr>
                <a:t>5’-AGGGG-3’</a:t>
              </a:r>
              <a:endParaRPr lang="en-US" sz="36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67EF292F-E6B4-50A6-5DCC-8D7047F85A17}"/>
                </a:ext>
              </a:extLst>
            </p:cNvPr>
            <p:cNvSpPr/>
            <p:nvPr/>
          </p:nvSpPr>
          <p:spPr>
            <a:xfrm>
              <a:off x="10449096" y="6362639"/>
              <a:ext cx="6400800" cy="750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PT" sz="2800" b="1" dirty="0">
                  <a:solidFill>
                    <a:srgbClr val="B0C4D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 Light" panose="00000400000000000000" pitchFamily="2" charset="0"/>
                  <a:ea typeface="Calibri" pitchFamily="34" charset="-122"/>
                  <a:cs typeface="Poppins Light" panose="00000400000000000000" pitchFamily="2" charset="0"/>
                </a:rPr>
                <a:t>Genes alvo: </a:t>
              </a:r>
              <a:r>
                <a:rPr lang="pt-PT" sz="2800" b="1" dirty="0">
                  <a:solidFill>
                    <a:srgbClr val="A9734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 Light" panose="00000400000000000000" pitchFamily="2" charset="0"/>
                  <a:ea typeface="Calibri" pitchFamily="34" charset="-122"/>
                  <a:cs typeface="Poppins Light" panose="00000400000000000000" pitchFamily="2" charset="0"/>
                </a:rPr>
                <a:t>CTT1, HSP26, HSP12, DDR2</a:t>
              </a:r>
            </a:p>
          </p:txBody>
        </p:sp>
        <p:sp>
          <p:nvSpPr>
            <p:cNvPr id="25" name="Text 7">
              <a:extLst>
                <a:ext uri="{FF2B5EF4-FFF2-40B4-BE49-F238E27FC236}">
                  <a16:creationId xmlns:a16="http://schemas.microsoft.com/office/drawing/2014/main" id="{479FF682-D811-D54A-0355-204C249116DD}"/>
                </a:ext>
              </a:extLst>
            </p:cNvPr>
            <p:cNvSpPr/>
            <p:nvPr/>
          </p:nvSpPr>
          <p:spPr>
            <a:xfrm>
              <a:off x="10436396" y="4492258"/>
              <a:ext cx="6307919" cy="393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MSN2/4 — Zinc Finger TFs</a:t>
              </a:r>
            </a:p>
          </p:txBody>
        </p:sp>
      </p:grpSp>
      <p:sp>
        <p:nvSpPr>
          <p:cNvPr id="26" name="Text 11">
            <a:extLst>
              <a:ext uri="{FF2B5EF4-FFF2-40B4-BE49-F238E27FC236}">
                <a16:creationId xmlns:a16="http://schemas.microsoft.com/office/drawing/2014/main" id="{8B5C7A90-B766-98E5-88C5-DD9D60AED6F7}"/>
              </a:ext>
            </a:extLst>
          </p:cNvPr>
          <p:cNvSpPr/>
          <p:nvPr/>
        </p:nvSpPr>
        <p:spPr>
          <a:xfrm>
            <a:off x="10198713" y="8817725"/>
            <a:ext cx="5955687" cy="2067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Fig1. </a:t>
            </a:r>
            <a:r>
              <a:rPr lang="pt-PT" sz="2000" i="1" dirty="0">
                <a:solidFill>
                  <a:srgbClr val="63CA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Saccharomyces cerevisiae</a:t>
            </a:r>
            <a:endParaRPr lang="en-US" sz="2000" b="1" dirty="0">
              <a:solidFill>
                <a:srgbClr val="63CAD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7" name="Arco 26">
            <a:extLst>
              <a:ext uri="{FF2B5EF4-FFF2-40B4-BE49-F238E27FC236}">
                <a16:creationId xmlns:a16="http://schemas.microsoft.com/office/drawing/2014/main" id="{369976F9-B3E1-D7D2-B18B-75A57F760A80}"/>
              </a:ext>
            </a:extLst>
          </p:cNvPr>
          <p:cNvSpPr/>
          <p:nvPr/>
        </p:nvSpPr>
        <p:spPr>
          <a:xfrm rot="21075376" flipH="1">
            <a:off x="12858135" y="8844126"/>
            <a:ext cx="1371600" cy="1117122"/>
          </a:xfrm>
          <a:prstGeom prst="arc">
            <a:avLst/>
          </a:prstGeom>
          <a:ln w="28575" cap="flat" cmpd="sng" algn="ctr">
            <a:solidFill>
              <a:srgbClr val="63CAD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63CAD5"/>
              </a:solidFill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F7839D84-999E-F197-B918-00FEE6A594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80"/>
          <a:stretch>
            <a:fillRect/>
          </a:stretch>
        </p:blipFill>
        <p:spPr>
          <a:xfrm>
            <a:off x="7642465" y="4074556"/>
            <a:ext cx="6606935" cy="3347119"/>
          </a:xfrm>
          <a:prstGeom prst="rect">
            <a:avLst/>
          </a:prstGeom>
          <a:effectLst>
            <a:outerShdw blurRad="177800" dist="38100" dir="8100000" sx="103000" sy="103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7E49669-54B2-2146-25C3-745682446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1254" y="6338290"/>
            <a:ext cx="5643550" cy="394871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508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1346087" y="-1490490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29" name="AutoShape 3">
            <a:extLst>
              <a:ext uri="{FF2B5EF4-FFF2-40B4-BE49-F238E27FC236}">
                <a16:creationId xmlns:a16="http://schemas.microsoft.com/office/drawing/2014/main" id="{00A2FD25-1517-1210-D669-6CA43D2C89A1}"/>
              </a:ext>
            </a:extLst>
          </p:cNvPr>
          <p:cNvSpPr/>
          <p:nvPr/>
        </p:nvSpPr>
        <p:spPr>
          <a:xfrm>
            <a:off x="990600" y="1866899"/>
            <a:ext cx="12420600" cy="35226"/>
          </a:xfrm>
          <a:prstGeom prst="line">
            <a:avLst/>
          </a:prstGeom>
          <a:ln w="38100" cap="flat">
            <a:solidFill>
              <a:srgbClr val="00B4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749D96BF-6B4C-8D77-CDDC-9D1D545BBF0F}"/>
              </a:ext>
            </a:extLst>
          </p:cNvPr>
          <p:cNvSpPr txBox="1"/>
          <p:nvPr/>
        </p:nvSpPr>
        <p:spPr>
          <a:xfrm>
            <a:off x="914400" y="1028700"/>
            <a:ext cx="133350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pt-PT" sz="5600" noProof="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Hands-On</a:t>
            </a:r>
          </a:p>
        </p:txBody>
      </p: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F3D9EB1E-1C74-B396-8D22-A19B7296F62D}"/>
              </a:ext>
            </a:extLst>
          </p:cNvPr>
          <p:cNvGrpSpPr/>
          <p:nvPr/>
        </p:nvGrpSpPr>
        <p:grpSpPr>
          <a:xfrm>
            <a:off x="6833433" y="2247900"/>
            <a:ext cx="5053767" cy="7399654"/>
            <a:chOff x="990600" y="2332659"/>
            <a:chExt cx="5053767" cy="7399654"/>
          </a:xfrm>
        </p:grpSpPr>
        <p:sp>
          <p:nvSpPr>
            <p:cNvPr id="61" name="Retângulo 60">
              <a:extLst>
                <a:ext uri="{FF2B5EF4-FFF2-40B4-BE49-F238E27FC236}">
                  <a16:creationId xmlns:a16="http://schemas.microsoft.com/office/drawing/2014/main" id="{FB587362-91E7-AFB5-D4F3-7BFF88906621}"/>
                </a:ext>
              </a:extLst>
            </p:cNvPr>
            <p:cNvSpPr/>
            <p:nvPr/>
          </p:nvSpPr>
          <p:spPr>
            <a:xfrm>
              <a:off x="1366788" y="3289382"/>
              <a:ext cx="266700" cy="72006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1F5ED1B-8627-D9FA-3EB1-3B185750943A}"/>
                </a:ext>
              </a:extLst>
            </p:cNvPr>
            <p:cNvSpPr/>
            <p:nvPr/>
          </p:nvSpPr>
          <p:spPr>
            <a:xfrm>
              <a:off x="990600" y="2332659"/>
              <a:ext cx="1028700" cy="1028700"/>
            </a:xfrm>
            <a:prstGeom prst="ellipse">
              <a:avLst/>
            </a:prstGeom>
            <a:gradFill flip="none" rotWithShape="1">
              <a:gsLst>
                <a:gs pos="100000">
                  <a:srgbClr val="00B4D8"/>
                </a:gs>
                <a:gs pos="1000">
                  <a:srgbClr val="00697E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49C5C0E4-4F5E-D7D2-ED13-B2B4BD4BF264}"/>
                </a:ext>
              </a:extLst>
            </p:cNvPr>
            <p:cNvSpPr/>
            <p:nvPr/>
          </p:nvSpPr>
          <p:spPr>
            <a:xfrm>
              <a:off x="1366788" y="4923844"/>
              <a:ext cx="266700" cy="72006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4" name="Retângulo 63">
              <a:extLst>
                <a:ext uri="{FF2B5EF4-FFF2-40B4-BE49-F238E27FC236}">
                  <a16:creationId xmlns:a16="http://schemas.microsoft.com/office/drawing/2014/main" id="{67A03587-47B1-4B39-1F89-D034351BF45F}"/>
                </a:ext>
              </a:extLst>
            </p:cNvPr>
            <p:cNvSpPr/>
            <p:nvPr/>
          </p:nvSpPr>
          <p:spPr>
            <a:xfrm>
              <a:off x="1366788" y="8075303"/>
              <a:ext cx="266700" cy="72006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4DD014E-7762-0BF2-C1B6-144F9C8337C3}"/>
                </a:ext>
              </a:extLst>
            </p:cNvPr>
            <p:cNvSpPr/>
            <p:nvPr/>
          </p:nvSpPr>
          <p:spPr>
            <a:xfrm>
              <a:off x="990600" y="3925398"/>
              <a:ext cx="1028700" cy="1028700"/>
            </a:xfrm>
            <a:prstGeom prst="ellipse">
              <a:avLst/>
            </a:prstGeom>
            <a:gradFill flip="none" rotWithShape="1">
              <a:gsLst>
                <a:gs pos="100000">
                  <a:srgbClr val="00B4D8"/>
                </a:gs>
                <a:gs pos="1000">
                  <a:srgbClr val="00697E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3" name="Retângulo 62">
              <a:extLst>
                <a:ext uri="{FF2B5EF4-FFF2-40B4-BE49-F238E27FC236}">
                  <a16:creationId xmlns:a16="http://schemas.microsoft.com/office/drawing/2014/main" id="{602C18D2-FB6D-9D71-521F-22679CB51A93}"/>
                </a:ext>
              </a:extLst>
            </p:cNvPr>
            <p:cNvSpPr/>
            <p:nvPr/>
          </p:nvSpPr>
          <p:spPr>
            <a:xfrm>
              <a:off x="1387442" y="6433043"/>
              <a:ext cx="266700" cy="72006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87B5F8F-7597-BBBF-CDAF-CB86B7F9053B}"/>
                </a:ext>
              </a:extLst>
            </p:cNvPr>
            <p:cNvSpPr/>
            <p:nvPr/>
          </p:nvSpPr>
          <p:spPr>
            <a:xfrm>
              <a:off x="990600" y="5518137"/>
              <a:ext cx="1028700" cy="1028700"/>
            </a:xfrm>
            <a:prstGeom prst="ellipse">
              <a:avLst/>
            </a:prstGeom>
            <a:gradFill flip="none" rotWithShape="1">
              <a:gsLst>
                <a:gs pos="100000">
                  <a:srgbClr val="A97341"/>
                </a:gs>
                <a:gs pos="1000">
                  <a:srgbClr val="5B3E23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BB8C3B4-5B92-600F-E3C1-299AFF150CC7}"/>
                </a:ext>
              </a:extLst>
            </p:cNvPr>
            <p:cNvSpPr/>
            <p:nvPr/>
          </p:nvSpPr>
          <p:spPr>
            <a:xfrm>
              <a:off x="990600" y="7110876"/>
              <a:ext cx="1028700" cy="1028700"/>
            </a:xfrm>
            <a:prstGeom prst="ellipse">
              <a:avLst/>
            </a:prstGeom>
            <a:gradFill flip="none" rotWithShape="1">
              <a:gsLst>
                <a:gs pos="100000">
                  <a:srgbClr val="00B4D8"/>
                </a:gs>
                <a:gs pos="1000">
                  <a:srgbClr val="00697E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7EE0CFD-EF66-44B5-C83C-A0D57DB77FD0}"/>
                </a:ext>
              </a:extLst>
            </p:cNvPr>
            <p:cNvSpPr/>
            <p:nvPr/>
          </p:nvSpPr>
          <p:spPr>
            <a:xfrm>
              <a:off x="990600" y="8703613"/>
              <a:ext cx="1028700" cy="1028700"/>
            </a:xfrm>
            <a:prstGeom prst="ellipse">
              <a:avLst/>
            </a:prstGeom>
            <a:gradFill flip="none" rotWithShape="1">
              <a:gsLst>
                <a:gs pos="100000">
                  <a:srgbClr val="00B4D8"/>
                </a:gs>
                <a:gs pos="1000">
                  <a:srgbClr val="00697E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5" name="TextBox 8">
              <a:extLst>
                <a:ext uri="{FF2B5EF4-FFF2-40B4-BE49-F238E27FC236}">
                  <a16:creationId xmlns:a16="http://schemas.microsoft.com/office/drawing/2014/main" id="{F8D669F2-D50F-9DDE-F96D-907E9036486C}"/>
                </a:ext>
              </a:extLst>
            </p:cNvPr>
            <p:cNvSpPr txBox="1"/>
            <p:nvPr/>
          </p:nvSpPr>
          <p:spPr>
            <a:xfrm>
              <a:off x="1158842" y="2499815"/>
              <a:ext cx="689008" cy="6822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pt-PT" sz="4000" noProof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oppins" panose="00000500000000000000" pitchFamily="2" charset="0"/>
                  <a:ea typeface="Poppins Light"/>
                  <a:cs typeface="Poppins" panose="00000500000000000000" pitchFamily="2" charset="0"/>
                  <a:sym typeface="Poppins Light"/>
                </a:rPr>
                <a:t>1</a:t>
              </a:r>
            </a:p>
          </p:txBody>
        </p:sp>
        <p:sp>
          <p:nvSpPr>
            <p:cNvPr id="66" name="TextBox 8">
              <a:extLst>
                <a:ext uri="{FF2B5EF4-FFF2-40B4-BE49-F238E27FC236}">
                  <a16:creationId xmlns:a16="http://schemas.microsoft.com/office/drawing/2014/main" id="{B9B8125E-48E0-2C8D-39F6-36FDFE8A42CB}"/>
                </a:ext>
              </a:extLst>
            </p:cNvPr>
            <p:cNvSpPr txBox="1"/>
            <p:nvPr/>
          </p:nvSpPr>
          <p:spPr>
            <a:xfrm>
              <a:off x="1158842" y="4086710"/>
              <a:ext cx="689008" cy="6822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pt-PT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oppins" panose="00000500000000000000" pitchFamily="2" charset="0"/>
                  <a:ea typeface="Poppins Light"/>
                  <a:cs typeface="Poppins" panose="00000500000000000000" pitchFamily="2" charset="0"/>
                  <a:sym typeface="Poppins Light"/>
                </a:rPr>
                <a:t>2</a:t>
              </a:r>
              <a:endParaRPr lang="pt-PT" sz="4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  <p:sp>
          <p:nvSpPr>
            <p:cNvPr id="67" name="TextBox 8">
              <a:extLst>
                <a:ext uri="{FF2B5EF4-FFF2-40B4-BE49-F238E27FC236}">
                  <a16:creationId xmlns:a16="http://schemas.microsoft.com/office/drawing/2014/main" id="{E0A85A25-5B9C-EF6B-33A0-B07D6BB7DF6C}"/>
                </a:ext>
              </a:extLst>
            </p:cNvPr>
            <p:cNvSpPr txBox="1"/>
            <p:nvPr/>
          </p:nvSpPr>
          <p:spPr>
            <a:xfrm>
              <a:off x="1155634" y="5697063"/>
              <a:ext cx="689008" cy="6822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pt-PT" sz="4000" noProof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oppins" panose="00000500000000000000" pitchFamily="2" charset="0"/>
                  <a:ea typeface="Poppins Light"/>
                  <a:cs typeface="Poppins" panose="00000500000000000000" pitchFamily="2" charset="0"/>
                  <a:sym typeface="Poppins Light"/>
                </a:rPr>
                <a:t>3</a:t>
              </a:r>
            </a:p>
          </p:txBody>
        </p:sp>
        <p:sp>
          <p:nvSpPr>
            <p:cNvPr id="68" name="TextBox 8">
              <a:extLst>
                <a:ext uri="{FF2B5EF4-FFF2-40B4-BE49-F238E27FC236}">
                  <a16:creationId xmlns:a16="http://schemas.microsoft.com/office/drawing/2014/main" id="{F9AD45A2-16B0-9586-4E62-8A0A040BC729}"/>
                </a:ext>
              </a:extLst>
            </p:cNvPr>
            <p:cNvSpPr txBox="1"/>
            <p:nvPr/>
          </p:nvSpPr>
          <p:spPr>
            <a:xfrm>
              <a:off x="1136584" y="7264141"/>
              <a:ext cx="689008" cy="6822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pt-PT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oppins" panose="00000500000000000000" pitchFamily="2" charset="0"/>
                  <a:ea typeface="Poppins Light"/>
                  <a:cs typeface="Poppins" panose="00000500000000000000" pitchFamily="2" charset="0"/>
                  <a:sym typeface="Poppins Light"/>
                </a:rPr>
                <a:t>4</a:t>
              </a:r>
              <a:endParaRPr lang="pt-PT" sz="4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  <p:sp>
          <p:nvSpPr>
            <p:cNvPr id="69" name="TextBox 8">
              <a:extLst>
                <a:ext uri="{FF2B5EF4-FFF2-40B4-BE49-F238E27FC236}">
                  <a16:creationId xmlns:a16="http://schemas.microsoft.com/office/drawing/2014/main" id="{40EB8AE7-6615-DD41-83DA-0CABD2454A58}"/>
                </a:ext>
              </a:extLst>
            </p:cNvPr>
            <p:cNvSpPr txBox="1"/>
            <p:nvPr/>
          </p:nvSpPr>
          <p:spPr>
            <a:xfrm>
              <a:off x="1158842" y="8876844"/>
              <a:ext cx="689008" cy="6822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pt-PT" sz="4000" noProof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oppins" panose="00000500000000000000" pitchFamily="2" charset="0"/>
                  <a:ea typeface="Poppins Light"/>
                  <a:cs typeface="Poppins" panose="00000500000000000000" pitchFamily="2" charset="0"/>
                  <a:sym typeface="Poppins Light"/>
                </a:rPr>
                <a:t>5</a:t>
              </a:r>
            </a:p>
          </p:txBody>
        </p:sp>
        <p:sp>
          <p:nvSpPr>
            <p:cNvPr id="70" name="CaixaDeTexto 69">
              <a:extLst>
                <a:ext uri="{FF2B5EF4-FFF2-40B4-BE49-F238E27FC236}">
                  <a16:creationId xmlns:a16="http://schemas.microsoft.com/office/drawing/2014/main" id="{27405D7D-1F22-0060-9438-31219C512F1B}"/>
                </a:ext>
              </a:extLst>
            </p:cNvPr>
            <p:cNvSpPr txBox="1"/>
            <p:nvPr/>
          </p:nvSpPr>
          <p:spPr>
            <a:xfrm>
              <a:off x="2234986" y="2591259"/>
              <a:ext cx="35051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Carregar .fasta</a:t>
              </a:r>
            </a:p>
          </p:txBody>
        </p:sp>
        <p:sp>
          <p:nvSpPr>
            <p:cNvPr id="71" name="CaixaDeTexto 70">
              <a:extLst>
                <a:ext uri="{FF2B5EF4-FFF2-40B4-BE49-F238E27FC236}">
                  <a16:creationId xmlns:a16="http://schemas.microsoft.com/office/drawing/2014/main" id="{D2DB4042-A383-62BC-28A3-36E71FB1DB16}"/>
                </a:ext>
              </a:extLst>
            </p:cNvPr>
            <p:cNvSpPr txBox="1"/>
            <p:nvPr/>
          </p:nvSpPr>
          <p:spPr>
            <a:xfrm>
              <a:off x="2237191" y="4009444"/>
              <a:ext cx="350519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Procura manual de Motifs</a:t>
              </a:r>
            </a:p>
          </p:txBody>
        </p: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533A2664-17D0-AC4E-8947-457DCA19126E}"/>
                </a:ext>
              </a:extLst>
            </p:cNvPr>
            <p:cNvSpPr txBox="1"/>
            <p:nvPr/>
          </p:nvSpPr>
          <p:spPr>
            <a:xfrm>
              <a:off x="2236590" y="5763280"/>
              <a:ext cx="35051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MEME</a:t>
              </a:r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0BD589EC-7023-5282-4555-6A7544F26A35}"/>
                </a:ext>
              </a:extLst>
            </p:cNvPr>
            <p:cNvSpPr txBox="1"/>
            <p:nvPr/>
          </p:nvSpPr>
          <p:spPr>
            <a:xfrm>
              <a:off x="2266670" y="7135298"/>
              <a:ext cx="350519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Output com BioPython</a:t>
              </a:r>
            </a:p>
          </p:txBody>
        </p:sp>
        <p:sp>
          <p:nvSpPr>
            <p:cNvPr id="74" name="CaixaDeTexto 73">
              <a:extLst>
                <a:ext uri="{FF2B5EF4-FFF2-40B4-BE49-F238E27FC236}">
                  <a16:creationId xmlns:a16="http://schemas.microsoft.com/office/drawing/2014/main" id="{DA05A62F-8C1E-8CCF-508B-4EBDB7A9A7B9}"/>
                </a:ext>
              </a:extLst>
            </p:cNvPr>
            <p:cNvSpPr txBox="1"/>
            <p:nvPr/>
          </p:nvSpPr>
          <p:spPr>
            <a:xfrm>
              <a:off x="2234986" y="8876844"/>
              <a:ext cx="38093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Resposta Biológica</a:t>
              </a:r>
            </a:p>
          </p:txBody>
        </p:sp>
      </p:grp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792C302D-ECC2-D3B4-712E-1247D123A186}"/>
              </a:ext>
            </a:extLst>
          </p:cNvPr>
          <p:cNvSpPr txBox="1"/>
          <p:nvPr/>
        </p:nvSpPr>
        <p:spPr>
          <a:xfrm>
            <a:off x="901700" y="2421981"/>
            <a:ext cx="52705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3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“</a:t>
            </a:r>
            <a:r>
              <a:rPr lang="pt-PT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pt-PT" sz="3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omo é que o </a:t>
            </a:r>
            <a:r>
              <a:rPr lang="pt-PT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M</a:t>
            </a:r>
            <a:r>
              <a:rPr lang="pt-PT" sz="3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otif</a:t>
            </a:r>
            <a:r>
              <a:rPr lang="pt-PT" sz="3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PT" sz="3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Finding</a:t>
            </a:r>
            <a:r>
              <a:rPr lang="pt-PT" sz="3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 nos permite inferir sobre a resposta ao stress em </a:t>
            </a:r>
            <a:r>
              <a:rPr lang="pt-PT" sz="3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S. </a:t>
            </a:r>
            <a:r>
              <a:rPr lang="pt-PT" sz="3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cerevisiae</a:t>
            </a:r>
            <a:r>
              <a:rPr lang="pt-PT" sz="3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?”</a:t>
            </a:r>
          </a:p>
        </p:txBody>
      </p:sp>
      <p:sp>
        <p:nvSpPr>
          <p:cNvPr id="80" name="Arco 79">
            <a:extLst>
              <a:ext uri="{FF2B5EF4-FFF2-40B4-BE49-F238E27FC236}">
                <a16:creationId xmlns:a16="http://schemas.microsoft.com/office/drawing/2014/main" id="{9B876BF4-73CC-BBAE-6C95-10A6F9DDD412}"/>
              </a:ext>
            </a:extLst>
          </p:cNvPr>
          <p:cNvSpPr/>
          <p:nvPr/>
        </p:nvSpPr>
        <p:spPr>
          <a:xfrm rot="13372181" flipH="1">
            <a:off x="3428830" y="3131883"/>
            <a:ext cx="3162639" cy="3033209"/>
          </a:xfrm>
          <a:prstGeom prst="arc">
            <a:avLst>
              <a:gd name="adj1" fmla="val 13588952"/>
              <a:gd name="adj2" fmla="val 21274365"/>
            </a:avLst>
          </a:prstGeom>
          <a:ln w="38100" cap="flat" cmpd="sng" algn="ctr">
            <a:solidFill>
              <a:srgbClr val="63CAD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63CAD5"/>
              </a:solidFill>
            </a:endParaRPr>
          </a:p>
        </p:txBody>
      </p:sp>
      <p:grpSp>
        <p:nvGrpSpPr>
          <p:cNvPr id="84" name="Agrupar 83">
            <a:extLst>
              <a:ext uri="{FF2B5EF4-FFF2-40B4-BE49-F238E27FC236}">
                <a16:creationId xmlns:a16="http://schemas.microsoft.com/office/drawing/2014/main" id="{4C7FDE8B-8968-7545-BD15-B12414ACC2ED}"/>
              </a:ext>
            </a:extLst>
          </p:cNvPr>
          <p:cNvGrpSpPr/>
          <p:nvPr/>
        </p:nvGrpSpPr>
        <p:grpSpPr>
          <a:xfrm>
            <a:off x="2284665" y="6437088"/>
            <a:ext cx="2679342" cy="715023"/>
            <a:chOff x="4191000" y="6490533"/>
            <a:chExt cx="2679342" cy="71502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5" name="Shape 6">
              <a:extLst>
                <a:ext uri="{FF2B5EF4-FFF2-40B4-BE49-F238E27FC236}">
                  <a16:creationId xmlns:a16="http://schemas.microsoft.com/office/drawing/2014/main" id="{6C57F603-46A9-771D-D865-EC65F9A74BA6}"/>
                </a:ext>
              </a:extLst>
            </p:cNvPr>
            <p:cNvSpPr/>
            <p:nvPr/>
          </p:nvSpPr>
          <p:spPr>
            <a:xfrm>
              <a:off x="4191000" y="6490533"/>
              <a:ext cx="2679342" cy="715023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86" name="CaixaDeTexto 85">
              <a:extLst>
                <a:ext uri="{FF2B5EF4-FFF2-40B4-BE49-F238E27FC236}">
                  <a16:creationId xmlns:a16="http://schemas.microsoft.com/office/drawing/2014/main" id="{2F4D61C8-E9AC-68E2-690C-7B6D145BDEBA}"/>
                </a:ext>
              </a:extLst>
            </p:cNvPr>
            <p:cNvSpPr txBox="1"/>
            <p:nvPr/>
          </p:nvSpPr>
          <p:spPr>
            <a:xfrm>
              <a:off x="4395034" y="6584330"/>
              <a:ext cx="22712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pipeline</a:t>
              </a:r>
              <a:endPara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4D339EEB-368A-BD1F-0085-AEA334E9B9C4}"/>
              </a:ext>
            </a:extLst>
          </p:cNvPr>
          <p:cNvSpPr txBox="1"/>
          <p:nvPr/>
        </p:nvSpPr>
        <p:spPr>
          <a:xfrm>
            <a:off x="12428487" y="5141880"/>
            <a:ext cx="495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2800" b="0" i="1" dirty="0">
                <a:solidFill>
                  <a:srgbClr val="11D7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https://github.com/afonsogsdantos/Motif-Finding</a:t>
            </a:r>
          </a:p>
        </p:txBody>
      </p:sp>
      <p:pic>
        <p:nvPicPr>
          <p:cNvPr id="2056" name="Picture 8" descr="Git &amp; Github">
            <a:extLst>
              <a:ext uri="{FF2B5EF4-FFF2-40B4-BE49-F238E27FC236}">
                <a16:creationId xmlns:a16="http://schemas.microsoft.com/office/drawing/2014/main" id="{8226B0B4-CEAE-B65D-FB29-16E192FE2E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4" t="25530" r="64459" b="26921"/>
          <a:stretch>
            <a:fillRect/>
          </a:stretch>
        </p:blipFill>
        <p:spPr bwMode="auto">
          <a:xfrm>
            <a:off x="14020800" y="3771900"/>
            <a:ext cx="1143000" cy="1143000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Arco 91">
            <a:extLst>
              <a:ext uri="{FF2B5EF4-FFF2-40B4-BE49-F238E27FC236}">
                <a16:creationId xmlns:a16="http://schemas.microsoft.com/office/drawing/2014/main" id="{90B407A4-2F5C-D5D9-470A-0063E8CFC637}"/>
              </a:ext>
            </a:extLst>
          </p:cNvPr>
          <p:cNvSpPr/>
          <p:nvPr/>
        </p:nvSpPr>
        <p:spPr>
          <a:xfrm rot="8227819" flipH="1" flipV="1">
            <a:off x="10518450" y="4380822"/>
            <a:ext cx="3492529" cy="2719599"/>
          </a:xfrm>
          <a:prstGeom prst="arc">
            <a:avLst>
              <a:gd name="adj1" fmla="val 13518526"/>
              <a:gd name="adj2" fmla="val 21190409"/>
            </a:avLst>
          </a:prstGeom>
          <a:ln w="38100" cap="flat" cmpd="sng" algn="ctr">
            <a:solidFill>
              <a:srgbClr val="63CAD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63CAD5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0672EC6-F410-675F-BD15-852877F1C4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268197" y="6133488"/>
            <a:ext cx="1204909" cy="118401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DD1DDD0-307A-2574-156C-C4A4C73E402A}"/>
              </a:ext>
            </a:extLst>
          </p:cNvPr>
          <p:cNvSpPr txBox="1"/>
          <p:nvPr/>
        </p:nvSpPr>
        <p:spPr>
          <a:xfrm>
            <a:off x="13335000" y="6438900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32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</a:t>
            </a:r>
            <a:r>
              <a:rPr lang="pt-PT" sz="3200" b="0" noProof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ands-on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06FA8-3959-3448-1517-0EF4F0D4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09DB247-9498-F965-9AA5-BE0C89B0904A}"/>
              </a:ext>
            </a:extLst>
          </p:cNvPr>
          <p:cNvSpPr/>
          <p:nvPr/>
        </p:nvSpPr>
        <p:spPr>
          <a:xfrm>
            <a:off x="-4120597" y="-876300"/>
            <a:ext cx="24460200" cy="12039600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B648D84-ABEC-D5C0-46D9-F2700BF2AD8A}"/>
              </a:ext>
            </a:extLst>
          </p:cNvPr>
          <p:cNvSpPr/>
          <p:nvPr/>
        </p:nvSpPr>
        <p:spPr>
          <a:xfrm>
            <a:off x="1580646" y="2933700"/>
            <a:ext cx="322785" cy="73914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9" name="AutoShape 3">
            <a:extLst>
              <a:ext uri="{FF2B5EF4-FFF2-40B4-BE49-F238E27FC236}">
                <a16:creationId xmlns:a16="http://schemas.microsoft.com/office/drawing/2014/main" id="{7A67A644-BA85-3926-1739-60A83B5C1283}"/>
              </a:ext>
            </a:extLst>
          </p:cNvPr>
          <p:cNvSpPr/>
          <p:nvPr/>
        </p:nvSpPr>
        <p:spPr>
          <a:xfrm>
            <a:off x="990600" y="1866899"/>
            <a:ext cx="12420600" cy="35226"/>
          </a:xfrm>
          <a:prstGeom prst="line">
            <a:avLst/>
          </a:prstGeom>
          <a:ln w="38100" cap="flat">
            <a:solidFill>
              <a:srgbClr val="00B4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1992FF3E-981C-A5EE-4B8D-36A98FC94747}"/>
              </a:ext>
            </a:extLst>
          </p:cNvPr>
          <p:cNvSpPr txBox="1"/>
          <p:nvPr/>
        </p:nvSpPr>
        <p:spPr>
          <a:xfrm>
            <a:off x="914400" y="1028700"/>
            <a:ext cx="133350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pt-PT" sz="5600" noProof="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Hands-On</a:t>
            </a:r>
          </a:p>
        </p:txBody>
      </p: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E5C4A935-9FC6-FBAD-F47B-5E5B4B9CDD31}"/>
              </a:ext>
            </a:extLst>
          </p:cNvPr>
          <p:cNvGrpSpPr/>
          <p:nvPr/>
        </p:nvGrpSpPr>
        <p:grpSpPr>
          <a:xfrm>
            <a:off x="961882" y="2171700"/>
            <a:ext cx="8182118" cy="4595680"/>
            <a:chOff x="988395" y="2332659"/>
            <a:chExt cx="5438427" cy="3054621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3E844AD-F702-A664-101C-3A0A4FDD2E39}"/>
                </a:ext>
              </a:extLst>
            </p:cNvPr>
            <p:cNvSpPr/>
            <p:nvPr/>
          </p:nvSpPr>
          <p:spPr>
            <a:xfrm>
              <a:off x="990600" y="2332659"/>
              <a:ext cx="1028700" cy="1028700"/>
            </a:xfrm>
            <a:prstGeom prst="ellipse">
              <a:avLst/>
            </a:prstGeom>
            <a:gradFill flip="none" rotWithShape="1">
              <a:gsLst>
                <a:gs pos="100000">
                  <a:srgbClr val="00B4D8"/>
                </a:gs>
                <a:gs pos="1000">
                  <a:srgbClr val="00697E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374DA71-ECF8-9417-2A48-E63FAA549175}"/>
                </a:ext>
              </a:extLst>
            </p:cNvPr>
            <p:cNvSpPr/>
            <p:nvPr/>
          </p:nvSpPr>
          <p:spPr>
            <a:xfrm>
              <a:off x="988395" y="4358580"/>
              <a:ext cx="1028700" cy="1028700"/>
            </a:xfrm>
            <a:prstGeom prst="ellipse">
              <a:avLst/>
            </a:prstGeom>
            <a:gradFill flip="none" rotWithShape="1">
              <a:gsLst>
                <a:gs pos="100000">
                  <a:srgbClr val="00B4D8"/>
                </a:gs>
                <a:gs pos="1000">
                  <a:srgbClr val="00697E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5" name="TextBox 8">
              <a:extLst>
                <a:ext uri="{FF2B5EF4-FFF2-40B4-BE49-F238E27FC236}">
                  <a16:creationId xmlns:a16="http://schemas.microsoft.com/office/drawing/2014/main" id="{6B4D435B-1853-A373-4F60-3F832E9DAD63}"/>
                </a:ext>
              </a:extLst>
            </p:cNvPr>
            <p:cNvSpPr txBox="1"/>
            <p:nvPr/>
          </p:nvSpPr>
          <p:spPr>
            <a:xfrm>
              <a:off x="1158842" y="2637148"/>
              <a:ext cx="689008" cy="477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pt-PT" sz="4800" noProof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oppins" panose="00000500000000000000" pitchFamily="2" charset="0"/>
                  <a:ea typeface="Poppins Light"/>
                  <a:cs typeface="Poppins" panose="00000500000000000000" pitchFamily="2" charset="0"/>
                  <a:sym typeface="Poppins Light"/>
                </a:rPr>
                <a:t>1</a:t>
              </a:r>
            </a:p>
          </p:txBody>
        </p:sp>
        <p:sp>
          <p:nvSpPr>
            <p:cNvPr id="66" name="TextBox 8">
              <a:extLst>
                <a:ext uri="{FF2B5EF4-FFF2-40B4-BE49-F238E27FC236}">
                  <a16:creationId xmlns:a16="http://schemas.microsoft.com/office/drawing/2014/main" id="{65F635AF-917D-D9A2-6DAD-B835ED551A5C}"/>
                </a:ext>
              </a:extLst>
            </p:cNvPr>
            <p:cNvSpPr txBox="1"/>
            <p:nvPr/>
          </p:nvSpPr>
          <p:spPr>
            <a:xfrm>
              <a:off x="1156638" y="4657222"/>
              <a:ext cx="689008" cy="477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pt-PT" sz="4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oppins" panose="00000500000000000000" pitchFamily="2" charset="0"/>
                  <a:ea typeface="Poppins Light"/>
                  <a:cs typeface="Poppins" panose="00000500000000000000" pitchFamily="2" charset="0"/>
                  <a:sym typeface="Poppins Light"/>
                </a:rPr>
                <a:t>2</a:t>
              </a:r>
              <a:endParaRPr lang="pt-PT" sz="48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  <p:sp>
          <p:nvSpPr>
            <p:cNvPr id="70" name="CaixaDeTexto 69">
              <a:extLst>
                <a:ext uri="{FF2B5EF4-FFF2-40B4-BE49-F238E27FC236}">
                  <a16:creationId xmlns:a16="http://schemas.microsoft.com/office/drawing/2014/main" id="{67D5ADBB-C514-463C-A686-A698D897F61A}"/>
                </a:ext>
              </a:extLst>
            </p:cNvPr>
            <p:cNvSpPr txBox="1"/>
            <p:nvPr/>
          </p:nvSpPr>
          <p:spPr>
            <a:xfrm>
              <a:off x="2234986" y="2535251"/>
              <a:ext cx="4191836" cy="715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solidFill>
                    <a:srgbClr val="11D7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Preparação e carregamento dos dados e </a:t>
              </a:r>
              <a:r>
                <a:rPr lang="pt-PT" sz="3200" i="1" dirty="0">
                  <a:solidFill>
                    <a:srgbClr val="11D7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.fasta</a:t>
              </a:r>
            </a:p>
          </p:txBody>
        </p:sp>
        <p:sp>
          <p:nvSpPr>
            <p:cNvPr id="71" name="CaixaDeTexto 70">
              <a:extLst>
                <a:ext uri="{FF2B5EF4-FFF2-40B4-BE49-F238E27FC236}">
                  <a16:creationId xmlns:a16="http://schemas.microsoft.com/office/drawing/2014/main" id="{75CE4AD0-E41F-EC14-0E23-9626EB49525D}"/>
                </a:ext>
              </a:extLst>
            </p:cNvPr>
            <p:cNvSpPr txBox="1"/>
            <p:nvPr/>
          </p:nvSpPr>
          <p:spPr>
            <a:xfrm>
              <a:off x="2185338" y="4510524"/>
              <a:ext cx="3505199" cy="715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solidFill>
                    <a:srgbClr val="11D7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Procura manual de Motifs</a:t>
              </a:r>
            </a:p>
          </p:txBody>
        </p:sp>
      </p:grp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08903CF0-81FE-9B0F-80F5-6D1E88E0A1CC}"/>
              </a:ext>
            </a:extLst>
          </p:cNvPr>
          <p:cNvSpPr txBox="1"/>
          <p:nvPr/>
        </p:nvSpPr>
        <p:spPr>
          <a:xfrm>
            <a:off x="9481200" y="2400300"/>
            <a:ext cx="510342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2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HSP104   | 500 bp | HSF1  </a:t>
            </a:r>
          </a:p>
          <a:p>
            <a:pPr>
              <a:buNone/>
            </a:pPr>
            <a:r>
              <a:rPr lang="pt-PT" sz="2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SSA1        | 500 bp | HSF1  </a:t>
            </a:r>
          </a:p>
          <a:p>
            <a:pPr>
              <a:buNone/>
            </a:pPr>
            <a:r>
              <a:rPr lang="pt-PT" sz="2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HSP26     | 500 bp | MSN2/4  </a:t>
            </a:r>
          </a:p>
          <a:p>
            <a:pPr>
              <a:buNone/>
            </a:pPr>
            <a:r>
              <a:rPr lang="pt-PT" sz="2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CTT1        | 500 bp | MSN2/4  </a:t>
            </a:r>
          </a:p>
          <a:p>
            <a:pPr>
              <a:buNone/>
            </a:pPr>
            <a:r>
              <a:rPr lang="pt-PT" sz="2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HSP12      | 500 bp | MSN2/4  </a:t>
            </a:r>
          </a:p>
          <a:p>
            <a:pPr>
              <a:buNone/>
            </a:pPr>
            <a:r>
              <a:rPr lang="pt-PT" sz="2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DDR2       | 500 bp | MSN2/4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0137F97-1706-B081-28AA-C5EE3033604E}"/>
              </a:ext>
            </a:extLst>
          </p:cNvPr>
          <p:cNvSpPr txBox="1"/>
          <p:nvPr/>
        </p:nvSpPr>
        <p:spPr>
          <a:xfrm>
            <a:off x="9481200" y="5448300"/>
            <a:ext cx="3189205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2500" b="1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STRE (MSN2/4)</a:t>
            </a:r>
          </a:p>
          <a:p>
            <a:pPr algn="just"/>
            <a:r>
              <a:rPr lang="pt-PT" sz="25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HSP104 (3x)</a:t>
            </a:r>
          </a:p>
          <a:p>
            <a:pPr algn="just"/>
            <a:r>
              <a:rPr lang="pt-PT" sz="25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SSA1 (0x)&lt;</a:t>
            </a:r>
          </a:p>
          <a:p>
            <a:pPr algn="just"/>
            <a:r>
              <a:rPr lang="pt-PT" sz="25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HSP26 (3x)</a:t>
            </a:r>
          </a:p>
          <a:p>
            <a:pPr algn="just"/>
            <a:r>
              <a:rPr lang="pt-PT" sz="25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CTT1 (3x)</a:t>
            </a:r>
          </a:p>
          <a:p>
            <a:pPr algn="just"/>
            <a:r>
              <a:rPr lang="pt-PT" sz="25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HSP12 (3x)</a:t>
            </a:r>
          </a:p>
          <a:p>
            <a:pPr algn="just"/>
            <a:r>
              <a:rPr lang="pt-PT" sz="25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DDR2 (5x)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2AB2DCE-1F5D-9975-C03D-A43F250CA62C}"/>
              </a:ext>
            </a:extLst>
          </p:cNvPr>
          <p:cNvSpPr txBox="1"/>
          <p:nvPr/>
        </p:nvSpPr>
        <p:spPr>
          <a:xfrm>
            <a:off x="12831574" y="5448300"/>
            <a:ext cx="4519787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500" b="1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HSE (HSF1)</a:t>
            </a:r>
          </a:p>
          <a:p>
            <a:r>
              <a:rPr lang="pt-PT" sz="25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HSP104 (29x)</a:t>
            </a:r>
          </a:p>
          <a:p>
            <a:r>
              <a:rPr lang="pt-PT" sz="25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SSA1 (32x)</a:t>
            </a:r>
          </a:p>
          <a:p>
            <a:r>
              <a:rPr lang="pt-PT" sz="25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HSP26 (17x)</a:t>
            </a:r>
          </a:p>
          <a:p>
            <a:r>
              <a:rPr lang="pt-PT" sz="25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CTT1 (19x)</a:t>
            </a:r>
          </a:p>
          <a:p>
            <a:r>
              <a:rPr lang="pt-PT" sz="25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HSP12 (21x)</a:t>
            </a:r>
          </a:p>
          <a:p>
            <a:r>
              <a:rPr lang="pt-PT" sz="25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DDR2 (23x)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1426268-5A88-BB63-05C9-7EFB66510B8D}"/>
              </a:ext>
            </a:extLst>
          </p:cNvPr>
          <p:cNvSpPr/>
          <p:nvPr/>
        </p:nvSpPr>
        <p:spPr>
          <a:xfrm>
            <a:off x="2760994" y="8857958"/>
            <a:ext cx="14841205" cy="1019487"/>
          </a:xfrm>
          <a:prstGeom prst="rect">
            <a:avLst/>
          </a:prstGeom>
          <a:gradFill flip="none" rotWithShape="1">
            <a:gsLst>
              <a:gs pos="0">
                <a:srgbClr val="00778E">
                  <a:alpha val="96000"/>
                </a:srgbClr>
              </a:gs>
              <a:gs pos="100000">
                <a:srgbClr val="11D7FF">
                  <a:alpha val="0"/>
                </a:srgbClr>
              </a:gs>
              <a:gs pos="74000">
                <a:srgbClr val="11D7FF">
                  <a:alpha val="7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DEFAB2A-D3FC-16CB-087C-3DD805C793A2}"/>
              </a:ext>
            </a:extLst>
          </p:cNvPr>
          <p:cNvSpPr txBox="1"/>
          <p:nvPr/>
        </p:nvSpPr>
        <p:spPr>
          <a:xfrm>
            <a:off x="2837379" y="8923338"/>
            <a:ext cx="140790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2800" b="1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Questão: </a:t>
            </a:r>
            <a:r>
              <a:rPr lang="pt-PT" sz="280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 motif GAA aparece muito mais que o AGGGG. </a:t>
            </a:r>
          </a:p>
          <a:p>
            <a:pPr>
              <a:buNone/>
            </a:pPr>
            <a:r>
              <a:rPr lang="pt-PT" sz="280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Serão todos locais reais de ligação do fator de transcrição? Limitações?</a:t>
            </a:r>
          </a:p>
        </p:txBody>
      </p:sp>
    </p:spTree>
    <p:extLst>
      <p:ext uri="{BB962C8B-B14F-4D97-AF65-F5344CB8AC3E}">
        <p14:creationId xmlns:p14="http://schemas.microsoft.com/office/powerpoint/2010/main" val="423731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8" grpId="0"/>
      <p:bldP spid="9" grpId="0"/>
      <p:bldP spid="4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145628-835F-DCE8-ECEC-DC014B29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CFE2B0C-F73D-2096-3713-1A467C9E72CC}"/>
              </a:ext>
            </a:extLst>
          </p:cNvPr>
          <p:cNvSpPr/>
          <p:nvPr/>
        </p:nvSpPr>
        <p:spPr>
          <a:xfrm>
            <a:off x="1580645" y="-945191"/>
            <a:ext cx="310236" cy="64654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AFDCB26-CEE1-1510-F2A6-9C9C7AD85675}"/>
              </a:ext>
            </a:extLst>
          </p:cNvPr>
          <p:cNvSpPr/>
          <p:nvPr/>
        </p:nvSpPr>
        <p:spPr>
          <a:xfrm>
            <a:off x="-4120597" y="-876300"/>
            <a:ext cx="24460200" cy="12039600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D4228BAC-B10C-4FCE-498D-00D38FCB1DF1}"/>
              </a:ext>
            </a:extLst>
          </p:cNvPr>
          <p:cNvGrpSpPr/>
          <p:nvPr/>
        </p:nvGrpSpPr>
        <p:grpSpPr>
          <a:xfrm>
            <a:off x="933489" y="876300"/>
            <a:ext cx="7099118" cy="9535810"/>
            <a:chOff x="969523" y="1194999"/>
            <a:chExt cx="4718587" cy="6338189"/>
          </a:xfrm>
        </p:grpSpPr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098E9003-68ED-9BAE-2BA4-F9A30B8459B9}"/>
                </a:ext>
              </a:extLst>
            </p:cNvPr>
            <p:cNvSpPr/>
            <p:nvPr/>
          </p:nvSpPr>
          <p:spPr>
            <a:xfrm>
              <a:off x="1399670" y="3235795"/>
              <a:ext cx="206205" cy="429739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F8641F7-1925-F1BB-474B-BAD302C59D77}"/>
                </a:ext>
              </a:extLst>
            </p:cNvPr>
            <p:cNvSpPr/>
            <p:nvPr/>
          </p:nvSpPr>
          <p:spPr>
            <a:xfrm>
              <a:off x="1007483" y="1194999"/>
              <a:ext cx="1028700" cy="1028700"/>
            </a:xfrm>
            <a:prstGeom prst="ellipse">
              <a:avLst/>
            </a:prstGeom>
            <a:gradFill flip="none" rotWithShape="1">
              <a:gsLst>
                <a:gs pos="100000">
                  <a:srgbClr val="A97341"/>
                </a:gs>
                <a:gs pos="1000">
                  <a:srgbClr val="5B3E23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A429A54-9CEF-EA66-109B-9BE8DB0F90BF}"/>
                </a:ext>
              </a:extLst>
            </p:cNvPr>
            <p:cNvSpPr/>
            <p:nvPr/>
          </p:nvSpPr>
          <p:spPr>
            <a:xfrm>
              <a:off x="969523" y="4165133"/>
              <a:ext cx="1028700" cy="1028700"/>
            </a:xfrm>
            <a:prstGeom prst="ellipse">
              <a:avLst/>
            </a:prstGeom>
            <a:gradFill flip="none" rotWithShape="1">
              <a:gsLst>
                <a:gs pos="100000">
                  <a:srgbClr val="00B4D8"/>
                </a:gs>
                <a:gs pos="1000">
                  <a:srgbClr val="00697E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7" name="TextBox 8">
              <a:extLst>
                <a:ext uri="{FF2B5EF4-FFF2-40B4-BE49-F238E27FC236}">
                  <a16:creationId xmlns:a16="http://schemas.microsoft.com/office/drawing/2014/main" id="{8B21EE1A-298D-CF73-C1F8-922DA8C0BF41}"/>
                </a:ext>
              </a:extLst>
            </p:cNvPr>
            <p:cNvSpPr txBox="1"/>
            <p:nvPr/>
          </p:nvSpPr>
          <p:spPr>
            <a:xfrm>
              <a:off x="1172517" y="1511257"/>
              <a:ext cx="689008" cy="477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pt-PT" sz="4800" noProof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oppins" panose="00000500000000000000" pitchFamily="2" charset="0"/>
                  <a:ea typeface="Poppins Light"/>
                  <a:cs typeface="Poppins" panose="00000500000000000000" pitchFamily="2" charset="0"/>
                  <a:sym typeface="Poppins Light"/>
                </a:rPr>
                <a:t>3</a:t>
              </a:r>
            </a:p>
          </p:txBody>
        </p:sp>
        <p:sp>
          <p:nvSpPr>
            <p:cNvPr id="68" name="TextBox 8">
              <a:extLst>
                <a:ext uri="{FF2B5EF4-FFF2-40B4-BE49-F238E27FC236}">
                  <a16:creationId xmlns:a16="http://schemas.microsoft.com/office/drawing/2014/main" id="{E3B6A496-A121-CA07-CA0C-EA49A7D84B2B}"/>
                </a:ext>
              </a:extLst>
            </p:cNvPr>
            <p:cNvSpPr txBox="1"/>
            <p:nvPr/>
          </p:nvSpPr>
          <p:spPr>
            <a:xfrm>
              <a:off x="1115507" y="4455735"/>
              <a:ext cx="689008" cy="477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pt-PT" sz="4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oppins" panose="00000500000000000000" pitchFamily="2" charset="0"/>
                  <a:ea typeface="Poppins Light"/>
                  <a:cs typeface="Poppins" panose="00000500000000000000" pitchFamily="2" charset="0"/>
                  <a:sym typeface="Poppins Light"/>
                </a:rPr>
                <a:t>4.1</a:t>
              </a:r>
              <a:endParaRPr lang="pt-PT" sz="48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EA503332-1BE6-0E7B-2831-F8CA635E9328}"/>
                </a:ext>
              </a:extLst>
            </p:cNvPr>
            <p:cNvSpPr txBox="1"/>
            <p:nvPr/>
          </p:nvSpPr>
          <p:spPr>
            <a:xfrm>
              <a:off x="2182911" y="1517054"/>
              <a:ext cx="3505199" cy="388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solidFill>
                    <a:srgbClr val="A973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MEME</a:t>
              </a:r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429D2392-1225-3D43-39C1-CB58C5C4A620}"/>
                </a:ext>
              </a:extLst>
            </p:cNvPr>
            <p:cNvSpPr txBox="1"/>
            <p:nvPr/>
          </p:nvSpPr>
          <p:spPr>
            <a:xfrm>
              <a:off x="2179819" y="4254179"/>
              <a:ext cx="1862323" cy="1043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i="1" dirty="0">
                  <a:solidFill>
                    <a:srgbClr val="11D7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meme.xml </a:t>
              </a:r>
              <a:r>
                <a:rPr lang="pt-PT" sz="3200" dirty="0">
                  <a:solidFill>
                    <a:srgbClr val="11D7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com BioPython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FDA4410-C6BE-8C53-CECD-203FB58114F6}"/>
              </a:ext>
            </a:extLst>
          </p:cNvPr>
          <p:cNvSpPr txBox="1"/>
          <p:nvPr/>
        </p:nvSpPr>
        <p:spPr>
          <a:xfrm>
            <a:off x="5410200" y="5496288"/>
            <a:ext cx="547967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200" dirty="0">
                <a:solidFill>
                  <a:srgbClr val="008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Motif 1</a:t>
            </a:r>
          </a:p>
          <a:p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Consenso: </a:t>
            </a:r>
          </a:p>
          <a:p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GGTGGTGCTGC    </a:t>
            </a:r>
          </a:p>
          <a:p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E-value: 1.50e-02    </a:t>
            </a:r>
          </a:p>
          <a:p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Largura: 11 bp    </a:t>
            </a:r>
          </a:p>
          <a:p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Ocorrências: 9 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03814B68-0117-42CF-4B55-599EECC690C2}"/>
              </a:ext>
            </a:extLst>
          </p:cNvPr>
          <p:cNvGrpSpPr/>
          <p:nvPr/>
        </p:nvGrpSpPr>
        <p:grpSpPr>
          <a:xfrm>
            <a:off x="4598154" y="906022"/>
            <a:ext cx="12927846" cy="2484878"/>
            <a:chOff x="4598154" y="2430022"/>
            <a:chExt cx="12851646" cy="2644921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ECE83207-E187-2469-F97C-11574FBC7448}"/>
                </a:ext>
              </a:extLst>
            </p:cNvPr>
            <p:cNvSpPr/>
            <p:nvPr/>
          </p:nvSpPr>
          <p:spPr>
            <a:xfrm>
              <a:off x="4674056" y="2430022"/>
              <a:ext cx="12775744" cy="2644921"/>
            </a:xfrm>
            <a:prstGeom prst="rect">
              <a:avLst/>
            </a:prstGeom>
            <a:solidFill>
              <a:srgbClr val="CCA17A"/>
            </a:solidFill>
            <a:ln w="38100">
              <a:solidFill>
                <a:srgbClr val="A973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92AC7861-25FC-6DD4-BE2C-0F868F170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777773" y="2554906"/>
              <a:ext cx="4104154" cy="2361293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AF43A57E-3E81-7ADA-52BF-441DDA1B2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972899" y="2563825"/>
              <a:ext cx="4400701" cy="2352374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714D64E4-12D4-37D2-479E-12CE46422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598154" y="2563824"/>
              <a:ext cx="4088646" cy="2352373"/>
            </a:xfrm>
            <a:prstGeom prst="rect">
              <a:avLst/>
            </a:prstGeom>
          </p:spPr>
        </p:pic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4C20F2-26DB-653F-84B1-381190491B4D}"/>
              </a:ext>
            </a:extLst>
          </p:cNvPr>
          <p:cNvSpPr txBox="1"/>
          <p:nvPr/>
        </p:nvSpPr>
        <p:spPr>
          <a:xfrm>
            <a:off x="13865880" y="5528489"/>
            <a:ext cx="3666658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PT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Motif 3 </a:t>
            </a:r>
            <a:endParaRPr lang="pt-PT" sz="3200" dirty="0">
              <a:solidFill>
                <a:srgbClr val="CC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Consenso: GAGAAAAAAGAA    </a:t>
            </a:r>
          </a:p>
          <a:p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E-value: 2.70e+02</a:t>
            </a:r>
          </a:p>
          <a:p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Largura: 12 bp    </a:t>
            </a:r>
          </a:p>
          <a:p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Ocorrências: </a:t>
            </a:r>
            <a:r>
              <a:rPr lang="pt-PT" sz="2800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12</a:t>
            </a:r>
            <a:endParaRPr lang="pt-PT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80CE854-A485-1634-DDFC-76CEC3DC5FB3}"/>
              </a:ext>
            </a:extLst>
          </p:cNvPr>
          <p:cNvSpPr/>
          <p:nvPr/>
        </p:nvSpPr>
        <p:spPr>
          <a:xfrm>
            <a:off x="4636405" y="3605674"/>
            <a:ext cx="12737195" cy="586249"/>
          </a:xfrm>
          <a:prstGeom prst="rect">
            <a:avLst/>
          </a:prstGeom>
          <a:gradFill flip="none" rotWithShape="1">
            <a:gsLst>
              <a:gs pos="0">
                <a:srgbClr val="A97341">
                  <a:alpha val="96000"/>
                </a:srgbClr>
              </a:gs>
              <a:gs pos="100000">
                <a:srgbClr val="CCA17A">
                  <a:alpha val="0"/>
                </a:srgbClr>
              </a:gs>
              <a:gs pos="74000">
                <a:srgbClr val="CCA17A">
                  <a:alpha val="7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604CA54-2CCB-F257-1C16-C628035FB211}"/>
              </a:ext>
            </a:extLst>
          </p:cNvPr>
          <p:cNvSpPr txBox="1"/>
          <p:nvPr/>
        </p:nvSpPr>
        <p:spPr>
          <a:xfrm>
            <a:off x="9455338" y="5528489"/>
            <a:ext cx="3923888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PT" sz="3200" b="0" i="0" u="none" strike="noStrike" kern="1200" cap="none" spc="0" normalizeH="0" baseline="0" noProof="0" dirty="0">
                <a:ln>
                  <a:noFill/>
                </a:ln>
                <a:solidFill>
                  <a:srgbClr val="FFB3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Motif 2</a:t>
            </a:r>
          </a:p>
          <a:p>
            <a:pPr>
              <a:defRPr/>
            </a:pP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Consenso: TCCAGAAGGGG</a:t>
            </a:r>
          </a:p>
          <a:p>
            <a:pPr>
              <a:defRPr/>
            </a:pP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E-value: 1.30e+01</a:t>
            </a:r>
          </a:p>
          <a:p>
            <a:pPr>
              <a:defRPr/>
            </a:pP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Largura: 11 bp    </a:t>
            </a:r>
          </a:p>
          <a:p>
            <a:pPr>
              <a:defRPr/>
            </a:pP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Ocorrências: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7ED1940-5093-C79A-DFEF-5E616DC14B3A}"/>
              </a:ext>
            </a:extLst>
          </p:cNvPr>
          <p:cNvSpPr txBox="1"/>
          <p:nvPr/>
        </p:nvSpPr>
        <p:spPr>
          <a:xfrm>
            <a:off x="4724327" y="3638304"/>
            <a:ext cx="9906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2800" b="1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Questão:</a:t>
            </a:r>
            <a:r>
              <a:rPr lang="pt-PT" sz="28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 é o melhor E-</a:t>
            </a:r>
            <a:r>
              <a:rPr lang="pt-PT" sz="2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value</a:t>
            </a:r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dos </a:t>
            </a:r>
            <a:r>
              <a:rPr lang="pt-PT" sz="2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motif</a:t>
            </a:r>
            <a:r>
              <a:rPr lang="pt-PT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obtidos</a:t>
            </a:r>
            <a:r>
              <a:rPr lang="pt-PT" sz="28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?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841A43A3-16A7-78B9-78F5-81C0EBFD5AA2}"/>
              </a:ext>
            </a:extLst>
          </p:cNvPr>
          <p:cNvGrpSpPr/>
          <p:nvPr/>
        </p:nvGrpSpPr>
        <p:grpSpPr>
          <a:xfrm>
            <a:off x="5486400" y="8572500"/>
            <a:ext cx="12774211" cy="1019487"/>
            <a:chOff x="5479862" y="5578866"/>
            <a:chExt cx="12774211" cy="1019487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E1DFB719-A707-2EDA-ABAA-0010FBA684A5}"/>
                </a:ext>
              </a:extLst>
            </p:cNvPr>
            <p:cNvSpPr/>
            <p:nvPr/>
          </p:nvSpPr>
          <p:spPr>
            <a:xfrm>
              <a:off x="5479862" y="5578866"/>
              <a:ext cx="11655016" cy="1019487"/>
            </a:xfrm>
            <a:prstGeom prst="rect">
              <a:avLst/>
            </a:prstGeom>
            <a:gradFill flip="none" rotWithShape="1">
              <a:gsLst>
                <a:gs pos="0">
                  <a:srgbClr val="00778E">
                    <a:alpha val="96000"/>
                  </a:srgbClr>
                </a:gs>
                <a:gs pos="100000">
                  <a:srgbClr val="11D7FF">
                    <a:alpha val="0"/>
                  </a:srgbClr>
                </a:gs>
                <a:gs pos="74000">
                  <a:srgbClr val="11D7FF">
                    <a:alpha val="75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C4BA4436-9885-9B58-1F6F-FB91C07EE536}"/>
                </a:ext>
              </a:extLst>
            </p:cNvPr>
            <p:cNvSpPr txBox="1"/>
            <p:nvPr/>
          </p:nvSpPr>
          <p:spPr>
            <a:xfrm>
              <a:off x="5556246" y="5644246"/>
              <a:ext cx="12697827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pt-PT" sz="2800" b="1" dirty="0">
                  <a:solidFill>
                    <a:schemeClr val="bg1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Questão: </a:t>
              </a:r>
              <a:r>
                <a:rPr lang="pt-PT" sz="2800" dirty="0">
                  <a:solidFill>
                    <a:schemeClr val="bg1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As sequências AGGGG e GAA estão nos Motifs 2 e 3? </a:t>
              </a:r>
            </a:p>
            <a:p>
              <a:pPr>
                <a:buNone/>
              </a:pPr>
              <a:r>
                <a:rPr lang="pt-PT" sz="2800" dirty="0">
                  <a:solidFill>
                    <a:schemeClr val="bg1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O que é que isto diz sobre </a:t>
              </a:r>
              <a:r>
                <a:rPr lang="pt-PT" sz="2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 </a:t>
              </a:r>
              <a:r>
                <a:rPr lang="pt-PT" sz="2800" dirty="0">
                  <a:solidFill>
                    <a:schemeClr val="bg1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MEME face à contagem manual?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89060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8" grpId="0" animBg="1"/>
      <p:bldP spid="18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B1BC99-C4C6-06ED-4CD7-C45A7E808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43A5C35-3E06-F506-F1CF-42152F2C7353}"/>
              </a:ext>
            </a:extLst>
          </p:cNvPr>
          <p:cNvSpPr/>
          <p:nvPr/>
        </p:nvSpPr>
        <p:spPr>
          <a:xfrm>
            <a:off x="-4120597" y="-876300"/>
            <a:ext cx="24460200" cy="12039600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DA312C35-AAB2-8978-AFEF-9CA606A785E9}"/>
              </a:ext>
            </a:extLst>
          </p:cNvPr>
          <p:cNvSpPr/>
          <p:nvPr/>
        </p:nvSpPr>
        <p:spPr>
          <a:xfrm>
            <a:off x="1580645" y="-945191"/>
            <a:ext cx="310236" cy="11322090"/>
          </a:xfrm>
          <a:prstGeom prst="rect">
            <a:avLst/>
          </a:prstGeom>
          <a:gradFill flip="none" rotWithShape="1">
            <a:gsLst>
              <a:gs pos="50000">
                <a:srgbClr val="BFBFBF"/>
              </a:gs>
              <a:gs pos="0">
                <a:srgbClr val="BFBFBF"/>
              </a:gs>
              <a:gs pos="100000">
                <a:srgbClr val="BFBFBF">
                  <a:alpha val="36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9B15F94-1956-0966-AE98-B1156CC15D5C}"/>
              </a:ext>
            </a:extLst>
          </p:cNvPr>
          <p:cNvSpPr/>
          <p:nvPr/>
        </p:nvSpPr>
        <p:spPr>
          <a:xfrm>
            <a:off x="990600" y="1409700"/>
            <a:ext cx="1547680" cy="1547680"/>
          </a:xfrm>
          <a:prstGeom prst="ellipse">
            <a:avLst/>
          </a:prstGeom>
          <a:gradFill flip="none" rotWithShape="1">
            <a:gsLst>
              <a:gs pos="100000">
                <a:srgbClr val="00B4D8"/>
              </a:gs>
              <a:gs pos="1000">
                <a:srgbClr val="00697E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3189049B-49E0-9EA2-F604-9F25E7ACC15F}"/>
              </a:ext>
            </a:extLst>
          </p:cNvPr>
          <p:cNvSpPr txBox="1"/>
          <p:nvPr/>
        </p:nvSpPr>
        <p:spPr>
          <a:xfrm>
            <a:off x="1210233" y="1846905"/>
            <a:ext cx="1036613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pt-PT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rPr>
              <a:t>4.2</a:t>
            </a:r>
            <a:endParaRPr lang="pt-PT" sz="4800" noProof="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BB9A66F-2A38-844E-1090-D0AFCD9834BE}"/>
              </a:ext>
            </a:extLst>
          </p:cNvPr>
          <p:cNvSpPr txBox="1"/>
          <p:nvPr/>
        </p:nvSpPr>
        <p:spPr>
          <a:xfrm>
            <a:off x="2836892" y="1421147"/>
            <a:ext cx="33299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solidFill>
                  <a:srgbClr val="11D7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Visualizar os Sequence Logos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F1DD581-BBC5-A29B-D790-74222020F70A}"/>
              </a:ext>
            </a:extLst>
          </p:cNvPr>
          <p:cNvGrpSpPr/>
          <p:nvPr/>
        </p:nvGrpSpPr>
        <p:grpSpPr>
          <a:xfrm>
            <a:off x="5791200" y="1585294"/>
            <a:ext cx="12039600" cy="523221"/>
            <a:chOff x="4716942" y="1409699"/>
            <a:chExt cx="12039600" cy="523221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A83D1123-851E-FE94-971A-5201007C8A9B}"/>
                </a:ext>
              </a:extLst>
            </p:cNvPr>
            <p:cNvSpPr/>
            <p:nvPr/>
          </p:nvSpPr>
          <p:spPr>
            <a:xfrm>
              <a:off x="4716942" y="1423176"/>
              <a:ext cx="12039600" cy="509744"/>
            </a:xfrm>
            <a:prstGeom prst="rect">
              <a:avLst/>
            </a:prstGeom>
            <a:gradFill flip="none" rotWithShape="1">
              <a:gsLst>
                <a:gs pos="0">
                  <a:srgbClr val="00778E">
                    <a:alpha val="96000"/>
                  </a:srgbClr>
                </a:gs>
                <a:gs pos="100000">
                  <a:srgbClr val="11D7FF">
                    <a:alpha val="0"/>
                  </a:srgbClr>
                </a:gs>
                <a:gs pos="74000">
                  <a:srgbClr val="11D7FF">
                    <a:alpha val="75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2CC56C2D-6751-7529-2717-E3F896281611}"/>
                </a:ext>
              </a:extLst>
            </p:cNvPr>
            <p:cNvSpPr txBox="1"/>
            <p:nvPr/>
          </p:nvSpPr>
          <p:spPr>
            <a:xfrm>
              <a:off x="4724400" y="1409699"/>
              <a:ext cx="113538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pt-PT" sz="2800" b="1" dirty="0">
                  <a:solidFill>
                    <a:schemeClr val="bg1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Questão: </a:t>
              </a:r>
              <a:r>
                <a:rPr lang="pt-PT" sz="2800" dirty="0">
                  <a:solidFill>
                    <a:schemeClr val="bg1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Quais as posições mais informativas de cada motif?</a:t>
              </a:r>
            </a:p>
          </p:txBody>
        </p:sp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6FEFEDD4-1BF6-873A-9264-4E8DA492A8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951" y="2306500"/>
            <a:ext cx="9134868" cy="7272237"/>
          </a:xfrm>
          <a:prstGeom prst="rect">
            <a:avLst/>
          </a:prstGeom>
          <a:ln w="38100">
            <a:gradFill>
              <a:gsLst>
                <a:gs pos="0">
                  <a:srgbClr val="00778E"/>
                </a:gs>
                <a:gs pos="100000">
                  <a:srgbClr val="11D7FF"/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89423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6DA285-37DC-36FD-86BE-54D9D279F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>
            <a:extLst>
              <a:ext uri="{FF2B5EF4-FFF2-40B4-BE49-F238E27FC236}">
                <a16:creationId xmlns:a16="http://schemas.microsoft.com/office/drawing/2014/main" id="{0328F5BA-3769-F11F-2710-54FC48B10E0A}"/>
              </a:ext>
            </a:extLst>
          </p:cNvPr>
          <p:cNvSpPr/>
          <p:nvPr/>
        </p:nvSpPr>
        <p:spPr>
          <a:xfrm>
            <a:off x="-4120597" y="-876300"/>
            <a:ext cx="24460200" cy="12039600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25142F3-514C-3C28-B1F6-F10EA628C604}"/>
              </a:ext>
            </a:extLst>
          </p:cNvPr>
          <p:cNvSpPr/>
          <p:nvPr/>
        </p:nvSpPr>
        <p:spPr>
          <a:xfrm flipV="1">
            <a:off x="914400" y="1768390"/>
            <a:ext cx="8458200" cy="0"/>
          </a:xfrm>
          <a:prstGeom prst="line">
            <a:avLst/>
          </a:prstGeom>
          <a:ln w="38100" cap="flat">
            <a:solidFill>
              <a:srgbClr val="A973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2AE6DE5-5364-EFB4-740C-FF4371F43670}"/>
              </a:ext>
            </a:extLst>
          </p:cNvPr>
          <p:cNvSpPr txBox="1"/>
          <p:nvPr/>
        </p:nvSpPr>
        <p:spPr>
          <a:xfrm>
            <a:off x="914400" y="1028700"/>
            <a:ext cx="92964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pt-PT" sz="560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Light"/>
                <a:ea typeface="Poppins Light"/>
                <a:cs typeface="Poppins Light"/>
                <a:sym typeface="Poppins Light"/>
              </a:rPr>
              <a:t>Discussão e Conclusão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0901814-C47D-6804-8F9F-FC5952CE4D3B}"/>
              </a:ext>
            </a:extLst>
          </p:cNvPr>
          <p:cNvSpPr/>
          <p:nvPr/>
        </p:nvSpPr>
        <p:spPr>
          <a:xfrm>
            <a:off x="1580645" y="-471578"/>
            <a:ext cx="310236" cy="10872878"/>
          </a:xfrm>
          <a:prstGeom prst="rect">
            <a:avLst/>
          </a:prstGeom>
          <a:gradFill>
            <a:gsLst>
              <a:gs pos="100000">
                <a:srgbClr val="BFBFBF"/>
              </a:gs>
              <a:gs pos="70000">
                <a:srgbClr val="BFBFBF"/>
              </a:gs>
              <a:gs pos="34000">
                <a:srgbClr val="BFBFBF"/>
              </a:gs>
              <a:gs pos="0">
                <a:srgbClr val="BFBFB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71FA981-FA5D-15A4-9652-5736EE1E185E}"/>
              </a:ext>
            </a:extLst>
          </p:cNvPr>
          <p:cNvSpPr/>
          <p:nvPr/>
        </p:nvSpPr>
        <p:spPr>
          <a:xfrm>
            <a:off x="954699" y="2594230"/>
            <a:ext cx="1547680" cy="1547680"/>
          </a:xfrm>
          <a:prstGeom prst="ellipse">
            <a:avLst/>
          </a:prstGeom>
          <a:gradFill flip="none" rotWithShape="1">
            <a:gsLst>
              <a:gs pos="100000">
                <a:srgbClr val="A97341"/>
              </a:gs>
              <a:gs pos="1000">
                <a:srgbClr val="5B3E23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984611F2-D7CA-8BA8-327E-9BD1F8DDB0C1}"/>
              </a:ext>
            </a:extLst>
          </p:cNvPr>
          <p:cNvSpPr txBox="1"/>
          <p:nvPr/>
        </p:nvSpPr>
        <p:spPr>
          <a:xfrm>
            <a:off x="1210232" y="3008997"/>
            <a:ext cx="1036613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pt-PT" sz="48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rPr>
              <a:t>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0F7D6C-38D7-2C3F-C110-53A16141034B}"/>
              </a:ext>
            </a:extLst>
          </p:cNvPr>
          <p:cNvSpPr txBox="1"/>
          <p:nvPr/>
        </p:nvSpPr>
        <p:spPr>
          <a:xfrm>
            <a:off x="2757912" y="2829460"/>
            <a:ext cx="33299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solidFill>
                  <a:srgbClr val="A973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Resposta Biológica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5FC990F-17EF-7AD8-0EF5-B971E3C8AEC0}"/>
              </a:ext>
            </a:extLst>
          </p:cNvPr>
          <p:cNvGrpSpPr/>
          <p:nvPr/>
        </p:nvGrpSpPr>
        <p:grpSpPr>
          <a:xfrm>
            <a:off x="914400" y="9161993"/>
            <a:ext cx="16611600" cy="586249"/>
            <a:chOff x="952500" y="9167485"/>
            <a:chExt cx="9882320" cy="586249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1B2379A0-FCB7-301D-3043-8679A4F55487}"/>
                </a:ext>
              </a:extLst>
            </p:cNvPr>
            <p:cNvSpPr/>
            <p:nvPr/>
          </p:nvSpPr>
          <p:spPr>
            <a:xfrm>
              <a:off x="952500" y="9167485"/>
              <a:ext cx="9882320" cy="586249"/>
            </a:xfrm>
            <a:prstGeom prst="rect">
              <a:avLst/>
            </a:prstGeom>
            <a:gradFill flip="none" rotWithShape="1">
              <a:gsLst>
                <a:gs pos="0">
                  <a:srgbClr val="A97341">
                    <a:alpha val="96000"/>
                  </a:srgbClr>
                </a:gs>
                <a:gs pos="100000">
                  <a:srgbClr val="CCA17A">
                    <a:alpha val="0"/>
                  </a:srgbClr>
                </a:gs>
                <a:gs pos="74000">
                  <a:srgbClr val="CCA17A">
                    <a:alpha val="75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B655658-317D-E3F9-2086-109108A6125C}"/>
                </a:ext>
              </a:extLst>
            </p:cNvPr>
            <p:cNvSpPr txBox="1"/>
            <p:nvPr/>
          </p:nvSpPr>
          <p:spPr>
            <a:xfrm>
              <a:off x="975768" y="9198999"/>
              <a:ext cx="886612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pt-PT" sz="28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Conclusão: </a:t>
              </a:r>
              <a:r>
                <a:rPr lang="pt-PT" sz="2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Abordagem Probabilística, </a:t>
              </a:r>
              <a:r>
                <a:rPr lang="pt-PT" sz="28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Validação Funcional e </a:t>
              </a:r>
              <a:r>
                <a:rPr lang="pt-PT" sz="2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Resposta Biológica. </a:t>
              </a:r>
              <a:endParaRPr lang="pt-PT" sz="280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20" name="Imagem 19">
            <a:extLst>
              <a:ext uri="{FF2B5EF4-FFF2-40B4-BE49-F238E27FC236}">
                <a16:creationId xmlns:a16="http://schemas.microsoft.com/office/drawing/2014/main" id="{80CFF580-D390-306F-5E63-A2550FBBBC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50" y="2324100"/>
            <a:ext cx="10172700" cy="630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471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8333</TotalTime>
  <Words>683</Words>
  <Application>Microsoft Office PowerPoint</Application>
  <PresentationFormat>Personalizados</PresentationFormat>
  <Paragraphs>136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5" baseType="lpstr">
      <vt:lpstr>Poppins</vt:lpstr>
      <vt:lpstr>Calibri</vt:lpstr>
      <vt:lpstr>Arial</vt:lpstr>
      <vt:lpstr>Poppins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Afonso Santos</dc:creator>
  <cp:lastModifiedBy>Afonso Santos</cp:lastModifiedBy>
  <cp:revision>21</cp:revision>
  <dcterms:created xsi:type="dcterms:W3CDTF">2006-08-16T00:00:00Z</dcterms:created>
  <dcterms:modified xsi:type="dcterms:W3CDTF">2026-05-20T21:54:45Z</dcterms:modified>
  <dc:identifier>DAHJd9y9ZG0</dc:identifier>
</cp:coreProperties>
</file>